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(0:00-0:30). Hook: ask the audience "raise your hand if you know the result of the last health inspection at the last restaurant you ate at." Pause, then: "Not one. And that's not your fault — the information is hidden from everyone." Then: "And this hurts everyone — the citizen, the restaurant owner, the inspector, and the municipality." Then hand off: "We built Aman to change that." Keep energy high, make eye contact, don't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(0:30-1:20). Don't read all four boxes. Say: "This is one problem wearing four faces." Emphasize the citizen (relies on Google reviews, doesn't know how to complain) and the inspector (too few, visits at random, no checklist) — these are the two the team wants to land hardest. Move quickly through the restaurant and municipality. Then land the survey evidence band: "We ran a quick survey with 50 people to check this — 86% told us they rely on Google reviews or friends, not real inspections, and 88% don't know how to file an official complaint." Always state the sample size (50 people, informal survey) out loud — this is a deliberate honesty choice, never present it as a large-scale study. Close: "Regulation has become a paper exercise that no one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(1:15-2:10). This is the heart — link it explicitly back to Slide 2. Say: "Remember the citizen who couldn't see the grade or know how to complain? Now they scan a QR code, see the real grade, file a complaint in under a minute, and track it anytime." Then the inspector: "That complaint raises a risk score, moving the venue up the queue — so the inspector stops visiting randomly, and has a digital offline checklist telling them exactly what to check." Then the restaurant: "Once the inspection is done, the grade updates before the inspector leaves, and the owner sees the exact violation plus a fix recommendation." Then the municipality (previously missing — now included): "And all of this rolls up to the municipality on one dashboard — every complaint, every grade, every high-risk venue." Close: "Every step feeds the next. That's what makes Aman a complete system, not just an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(2:10-4:40). Video is SILENT — presenter narrates live over it. Set it up in ONE sentence: "Instead of describing it, let me show you the whole loop on one real restaurant." Narrate at each beat, matching the loop order: citizen scans QR (sees real grade + history) → citizen files a complaint with a photo, trackable anytime → risk score rises, venue climbs the queue → inspector fills the offline digital checklist → grade recalculates and the public page updates live → owner sees the exact violation plus the fix recommendation. Keep comments SHORT, let the silent footage breathe between them, and rehearse timing 2-3x. Have the video queued full-screen before standing up. Backup: screenshots if it fails — narrate over those and keep moving, never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(4:40-5:25). Link back to the inspector problem: "Remember the inspector visiting at random? Here's the fix." Risk score = four weighted, tunable factors — count them off on screen. Then the credibility line: "We made it a transparent formula on purpose — not a closed AI box that gives a number without explaining where it came from." Because the inspector must justify the decision to the owner, and the owner must be able to appeal it. Mention the 3× documented-complaint weight = protects against fake complaints. Close with the proof strip: "This isn't just theory — Chicago runs this same predictive approach and catches violations 7 days earlier than random inspections."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(5:20-5:45). Open with weight: "The single most important decision in all of Aman." State the rule, then the concrete example: "not even 100 complaints." Explain why: if complaints could change the grade, a malicious campaign could burn an innocent restaurant. The grade stays sacred — only a real inspection writes it. Close on the append-only audit log, not editable even by an admin. Keep the legal/authority argument (only the municipality has inspection authority) in your back pocket for Q&amp;A — the dedicated legitimacy slide right after this one covers it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LEGITIMACY (5:45-6:20) — added after mentor feedback questioning "isn't this the Ministry of Health's job?" Three-part answer: 1) THE LAW — Palestinian Local Authorities Law No. 1 of 1997, Article 9, explicitly gives municipalities authority to monitor food and explicitly calls for coordination with competent government bodies — the law itself anticipates joint work with the Ministry of Health, not a turf conflict. 2) ON THE GROUND — Nablus Municipality already runs a dedicated Health &amp; Environment Department with a 44-person health inspection unit. Headed by Dr. Nidal Mansour. Source: nablus.org. 3) NEW — A REAL DOCUMENTED EXAMPLE of how a joint committee works in practice, from Al-Bireh Municipality (PNN interview, Dr. Iyad Dragmeh, Health Department Director): a joint committee with a Ministry of Health inspector taking lab samples, a municipality inspector doing the sensory/cleanliness check, and a Ministry of Economy inspector checking prices. IMPORTANT: this example is from Al-Bireh, not confirmed to be Nablus's exact structure — say "a documented example from another Palestinian municipality," never claim it's exactly how Nablus does it. Land on the mechanism: Aman links all three inspectors' findings to one shared digital record instead of separate paper trails. This turns "who really has authority" from a vague coordination claim into a concrete, real-world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(6:15-6:50) — PARTNER PRESENTS. Structure: WHO buys / HOW we fund &amp; earn / HOW we scale. Hero message: the grant funds the PILOT ONLY, it is not revenue — recurring revenue begins after the pilot, once impact is proven. 1) Customer: municipalities (B2G) + institutions. 2) Funding vs. earning: pilot funding via grants de-risks adoption (not revenue) → then the recurring engine kicks in: annual B2G SaaS license (the hero line, recurring municipal revenue) + institutional subscriptions + a training revenue share from food-worker safety programs run WITH authorized partners (not inspector certification). 3) Scale: pilot on 10-20 venues in Nablus, deploy citywide, then replicate to other municipalities and sectors. Close on the proof band: "This isn't a theoretical model — transparent grading systems already deliver real results elsewhere: Los Angeles cut foodborne-illness hospitalizations by 13.1%, and Abu Dhabi's QR grading rolled out to 6,900+ venues with 73%+ compliance improvement." This is the investor-facing proof point: real ROI, not a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(6:50-7:15). Rapid-fire, confident, don't linger. Open on the highlighted card: "92% of the 50 people we surveyed said they'd use Aman" — real market validation, not a guess. Then point to two more: "This isn't slideware — 190 automated tests pass right now," and "It runs on local servers, so it scales to any municipality without depending on foreign cloud that could be cut off." Six proof points, ~4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(7:10-7:40) — closes the loop back to the opening hook. Say: "We opened with a question: who here knows the result of the last health inspection at the last restaurant you ate at?" Pause. "With Aman, the answer becomes: all of you." Then land: "We're not digitizing inspections. We're turning food safety into a transparent, data-driven system that every side benefits from — from inspection, to trust." Pause. "Thank you — we'd love your questions." Then STOP talking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5486400" cy="457200"/>
          </a:xfrm>
          <a:prstGeom prst="rect">
            <a:avLst/>
          </a:prstGeom>
          <a:noFill/>
          <a:ln/>
        </p:spPr>
        <p:txBody>
          <a:bodyPr wrap="square" rtlCol="0" anchor="ctr"/>
          <a:lstStyle/>
          <a:p>
            <a:pPr algn="l" indent="0" marL="0">
              <a:buNone/>
            </a:pPr>
            <a:r>
              <a:rPr lang="en-US" sz="1600" b="1" spc="200" kern="0" dirty="0">
                <a:solidFill>
                  <a:srgbClr val="CFE7E4"/>
                </a:solidFill>
                <a:latin typeface="Calibri" pitchFamily="34" charset="0"/>
                <a:ea typeface="Calibri" pitchFamily="34" charset="-122"/>
                <a:cs typeface="Calibri" pitchFamily="34" charset="-120"/>
              </a:rPr>
              <a:t>أمان  ·  Aman</a:t>
            </a:r>
            <a:endParaRPr lang="en-US" sz="1600" dirty="0"/>
          </a:p>
        </p:txBody>
      </p:sp>
      <p:sp>
        <p:nvSpPr>
          <p:cNvPr id="3" name="Text 1"/>
          <p:cNvSpPr/>
          <p:nvPr/>
        </p:nvSpPr>
        <p:spPr>
          <a:xfrm>
            <a:off x="640080" y="1965960"/>
            <a:ext cx="10972800" cy="822960"/>
          </a:xfrm>
          <a:prstGeom prst="rect">
            <a:avLst/>
          </a:prstGeom>
          <a:noFill/>
          <a:ln/>
        </p:spPr>
        <p:txBody>
          <a:bodyPr wrap="square" rtlCol="0" anchor="ctr"/>
          <a:lstStyle/>
          <a:p>
            <a:pPr algn="l" indent="0" marL="0">
              <a:buNone/>
            </a:pPr>
            <a:r>
              <a:rPr lang="en-US" sz="5200" b="1" dirty="0">
                <a:solidFill>
                  <a:srgbClr val="FFFFFF"/>
                </a:solidFill>
                <a:latin typeface="Century Schoolbook" pitchFamily="34" charset="0"/>
                <a:ea typeface="Century Schoolbook" pitchFamily="34" charset="-122"/>
                <a:cs typeface="Century Schoolbook" pitchFamily="34" charset="-120"/>
              </a:rPr>
              <a:t>Food Safety You Can</a:t>
            </a:r>
            <a:endParaRPr lang="en-US" sz="5200" dirty="0"/>
          </a:p>
        </p:txBody>
      </p:sp>
      <p:sp>
        <p:nvSpPr>
          <p:cNvPr id="4" name="Text 2"/>
          <p:cNvSpPr/>
          <p:nvPr/>
        </p:nvSpPr>
        <p:spPr>
          <a:xfrm>
            <a:off x="640080" y="2788920"/>
            <a:ext cx="10972800" cy="868680"/>
          </a:xfrm>
          <a:prstGeom prst="rect">
            <a:avLst/>
          </a:prstGeom>
          <a:noFill/>
          <a:ln/>
        </p:spPr>
        <p:txBody>
          <a:bodyPr wrap="square" rtlCol="0" anchor="ctr"/>
          <a:lstStyle/>
          <a:p>
            <a:pPr algn="l" indent="0" marL="0">
              <a:buNone/>
            </a:pPr>
            <a:r>
              <a:rPr lang="en-US" sz="5200" b="1" dirty="0">
                <a:solidFill>
                  <a:srgbClr val="FFFFFF"/>
                </a:solidFill>
                <a:latin typeface="Century Schoolbook" pitchFamily="34" charset="0"/>
                <a:ea typeface="Century Schoolbook" pitchFamily="34" charset="-122"/>
                <a:cs typeface="Century Schoolbook" pitchFamily="34" charset="-120"/>
              </a:rPr>
              <a:t>Actually </a:t>
            </a:r>
            <a:pPr algn="l" indent="0" marL="0">
              <a:buNone/>
            </a:pPr>
            <a:r>
              <a:rPr lang="en-US" sz="5200" b="1" dirty="0">
                <a:solidFill>
                  <a:srgbClr val="E8A33D"/>
                </a:solidFill>
                <a:latin typeface="Century Schoolbook" pitchFamily="34" charset="0"/>
                <a:ea typeface="Century Schoolbook" pitchFamily="34" charset="-122"/>
                <a:cs typeface="Century Schoolbook" pitchFamily="34" charset="-120"/>
              </a:rPr>
              <a:t>See</a:t>
            </a:r>
            <a:pPr algn="l" indent="0" marL="0">
              <a:buNone/>
            </a:pPr>
            <a:r>
              <a:rPr lang="en-US" sz="5200" b="1" dirty="0">
                <a:solidFill>
                  <a:srgbClr val="FFFFFF"/>
                </a:solidFill>
                <a:latin typeface="Century Schoolbook" pitchFamily="34" charset="0"/>
                <a:ea typeface="Century Schoolbook" pitchFamily="34" charset="-122"/>
                <a:cs typeface="Century Schoolbook" pitchFamily="34" charset="-120"/>
              </a:rPr>
              <a:t>.</a:t>
            </a:r>
            <a:endParaRPr lang="en-US" sz="5200" dirty="0"/>
          </a:p>
        </p:txBody>
      </p:sp>
      <p:sp>
        <p:nvSpPr>
          <p:cNvPr id="5" name="Text 3"/>
          <p:cNvSpPr/>
          <p:nvPr/>
        </p:nvSpPr>
        <p:spPr>
          <a:xfrm>
            <a:off x="658368" y="3794760"/>
            <a:ext cx="8503920" cy="822960"/>
          </a:xfrm>
          <a:prstGeom prst="rect">
            <a:avLst/>
          </a:prstGeom>
          <a:noFill/>
          <a:ln/>
        </p:spPr>
        <p:txBody>
          <a:bodyPr wrap="square" rtlCol="0" anchor="ctr"/>
          <a:lstStyle/>
          <a:p>
            <a:pPr algn="l" indent="0" marL="0">
              <a:lnSpc>
                <a:spcPct val="115000"/>
              </a:lnSpc>
              <a:buNone/>
            </a:pPr>
            <a:r>
              <a:rPr lang="en-US" sz="1900" dirty="0">
                <a:solidFill>
                  <a:srgbClr val="DCEEEC"/>
                </a:solidFill>
                <a:latin typeface="Calibri" pitchFamily="34" charset="0"/>
                <a:ea typeface="Calibri" pitchFamily="34" charset="-122"/>
                <a:cs typeface="Calibri" pitchFamily="34" charset="-120"/>
              </a:rPr>
              <a:t>A transparency platform connecting citizens, restaurants, inspectors, and the municipality — one system, real trust.</a:t>
            </a:r>
            <a:endParaRPr lang="en-US" sz="1900" dirty="0"/>
          </a:p>
        </p:txBody>
      </p:sp>
      <p:sp>
        <p:nvSpPr>
          <p:cNvPr id="6" name="Shape 4"/>
          <p:cNvSpPr/>
          <p:nvPr/>
        </p:nvSpPr>
        <p:spPr>
          <a:xfrm>
            <a:off x="658368" y="5806440"/>
            <a:ext cx="2423160" cy="457200"/>
          </a:xfrm>
          <a:prstGeom prst="roundRect">
            <a:avLst>
              <a:gd name="adj" fmla="val 50000"/>
            </a:avLst>
          </a:prstGeom>
          <a:solidFill>
            <a:srgbClr val="FFFFFF">
              <a:alpha val="18000"/>
            </a:srgbClr>
          </a:solidFill>
          <a:ln w="12700">
            <a:solidFill>
              <a:srgbClr val="8FC9C4"/>
            </a:solidFill>
            <a:prstDash val="solid"/>
          </a:ln>
        </p:spPr>
      </p:sp>
      <p:sp>
        <p:nvSpPr>
          <p:cNvPr id="7" name="Text 5"/>
          <p:cNvSpPr/>
          <p:nvPr/>
        </p:nvSpPr>
        <p:spPr>
          <a:xfrm>
            <a:off x="658368" y="5806440"/>
            <a:ext cx="242316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Municipal SaaS (B2G)</a:t>
            </a:r>
            <a:endParaRPr lang="en-US" sz="1250" dirty="0"/>
          </a:p>
        </p:txBody>
      </p:sp>
      <p:sp>
        <p:nvSpPr>
          <p:cNvPr id="8" name="Shape 6"/>
          <p:cNvSpPr/>
          <p:nvPr/>
        </p:nvSpPr>
        <p:spPr>
          <a:xfrm>
            <a:off x="3282696" y="5806440"/>
            <a:ext cx="1687068" cy="457200"/>
          </a:xfrm>
          <a:prstGeom prst="roundRect">
            <a:avLst>
              <a:gd name="adj" fmla="val 50000"/>
            </a:avLst>
          </a:prstGeom>
          <a:solidFill>
            <a:srgbClr val="FFFFFF">
              <a:alpha val="18000"/>
            </a:srgbClr>
          </a:solidFill>
          <a:ln w="12700">
            <a:solidFill>
              <a:srgbClr val="8FC9C4"/>
            </a:solidFill>
            <a:prstDash val="solid"/>
          </a:ln>
        </p:spPr>
      </p:sp>
      <p:sp>
        <p:nvSpPr>
          <p:cNvPr id="9" name="Text 7"/>
          <p:cNvSpPr/>
          <p:nvPr/>
        </p:nvSpPr>
        <p:spPr>
          <a:xfrm>
            <a:off x="3282696" y="5806440"/>
            <a:ext cx="1687068"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Works Offline</a:t>
            </a:r>
            <a:endParaRPr lang="en-US" sz="1250" dirty="0"/>
          </a:p>
        </p:txBody>
      </p:sp>
      <p:sp>
        <p:nvSpPr>
          <p:cNvPr id="10" name="Shape 8"/>
          <p:cNvSpPr/>
          <p:nvPr/>
        </p:nvSpPr>
        <p:spPr>
          <a:xfrm>
            <a:off x="5170932" y="5806440"/>
            <a:ext cx="2528316" cy="457200"/>
          </a:xfrm>
          <a:prstGeom prst="roundRect">
            <a:avLst>
              <a:gd name="adj" fmla="val 50000"/>
            </a:avLst>
          </a:prstGeom>
          <a:solidFill>
            <a:srgbClr val="FFFFFF">
              <a:alpha val="18000"/>
            </a:srgbClr>
          </a:solidFill>
          <a:ln w="12700">
            <a:solidFill>
              <a:srgbClr val="8FC9C4"/>
            </a:solidFill>
            <a:prstDash val="solid"/>
          </a:ln>
        </p:spPr>
      </p:sp>
      <p:sp>
        <p:nvSpPr>
          <p:cNvPr id="11" name="Text 9"/>
          <p:cNvSpPr/>
          <p:nvPr/>
        </p:nvSpPr>
        <p:spPr>
          <a:xfrm>
            <a:off x="5170932" y="5806440"/>
            <a:ext cx="2528316"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Explainable by Design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94360"/>
          </a:xfrm>
          <a:prstGeom prst="rect">
            <a:avLst/>
          </a:prstGeom>
          <a:noFill/>
          <a:ln/>
        </p:spPr>
        <p:txBody>
          <a:bodyPr wrap="square" rtlCol="0" anchor="ctr"/>
          <a:lstStyle/>
          <a:p>
            <a:pPr indent="0" marL="0">
              <a:buNone/>
            </a:pPr>
            <a:r>
              <a:rPr lang="en-US" sz="3800" b="1" dirty="0">
                <a:solidFill>
                  <a:srgbClr val="14323B"/>
                </a:solidFill>
                <a:latin typeface="Century Schoolbook" pitchFamily="34" charset="0"/>
                <a:ea typeface="Century Schoolbook" pitchFamily="34" charset="-122"/>
                <a:cs typeface="Century Schoolbook" pitchFamily="34" charset="-120"/>
              </a:rPr>
              <a:t>The Problem</a:t>
            </a:r>
            <a:endParaRPr lang="en-US" sz="3800" dirty="0"/>
          </a:p>
        </p:txBody>
      </p:sp>
      <p:sp>
        <p:nvSpPr>
          <p:cNvPr id="3" name="Text 1"/>
          <p:cNvSpPr/>
          <p:nvPr/>
        </p:nvSpPr>
        <p:spPr>
          <a:xfrm>
            <a:off x="658368" y="960120"/>
            <a:ext cx="10058400" cy="365760"/>
          </a:xfrm>
          <a:prstGeom prst="rect">
            <a:avLst/>
          </a:prstGeom>
          <a:noFill/>
          <a:ln/>
        </p:spPr>
        <p:txBody>
          <a:bodyPr wrap="square" rtlCol="0" anchor="ctr"/>
          <a:lstStyle/>
          <a:p>
            <a:pPr indent="0" marL="0">
              <a:buNone/>
            </a:pPr>
            <a:r>
              <a:rPr lang="en-US" sz="1600" dirty="0">
                <a:solidFill>
                  <a:srgbClr val="5E7178"/>
                </a:solidFill>
                <a:latin typeface="Calibri" pitchFamily="34" charset="0"/>
                <a:ea typeface="Calibri" pitchFamily="34" charset="-122"/>
                <a:cs typeface="Calibri" pitchFamily="34" charset="-120"/>
              </a:rPr>
              <a:t>One broken system — felt differently by everyone in it.</a:t>
            </a:r>
            <a:endParaRPr lang="en-US" sz="1600" dirty="0"/>
          </a:p>
        </p:txBody>
      </p:sp>
      <p:sp>
        <p:nvSpPr>
          <p:cNvPr id="4" name="Shape 2"/>
          <p:cNvSpPr/>
          <p:nvPr/>
        </p:nvSpPr>
        <p:spPr>
          <a:xfrm>
            <a:off x="640080" y="1444752"/>
            <a:ext cx="5486400" cy="1627632"/>
          </a:xfrm>
          <a:prstGeom prst="roundRect">
            <a:avLst>
              <a:gd name="adj" fmla="val 6180"/>
            </a:avLst>
          </a:prstGeom>
          <a:solidFill>
            <a:srgbClr val="F4F7F6"/>
          </a:solidFill>
          <a:ln/>
          <a:effectLst>
            <a:outerShdw sx="100000" sy="100000" kx="0" ky="0" algn="bl" rotWithShape="0" blurRad="76200" dist="25400" dir="5400000">
              <a:srgbClr val="BBBBBB">
                <a:alpha val="40000"/>
              </a:srgbClr>
            </a:outerShdw>
          </a:effectLst>
        </p:spPr>
      </p:sp>
      <p:sp>
        <p:nvSpPr>
          <p:cNvPr id="5" name="Shape 3"/>
          <p:cNvSpPr/>
          <p:nvPr/>
        </p:nvSpPr>
        <p:spPr>
          <a:xfrm>
            <a:off x="896112" y="1691640"/>
            <a:ext cx="749808" cy="749808"/>
          </a:xfrm>
          <a:prstGeom prst="ellipse">
            <a:avLst/>
          </a:prstGeom>
          <a:solidFill>
            <a:srgbClr val="0B7A75"/>
          </a:solidFill>
          <a:ln/>
        </p:spPr>
      </p:sp>
      <p:pic>
        <p:nvPicPr>
          <p:cNvPr id="6" name="Image 0" descr="icons/user_white.png">    </p:cNvPr>
          <p:cNvPicPr>
            <a:picLocks noChangeAspect="1"/>
          </p:cNvPicPr>
          <p:nvPr/>
        </p:nvPicPr>
        <p:blipFill>
          <a:blip r:embed="rId1"/>
          <a:stretch>
            <a:fillRect/>
          </a:stretch>
        </p:blipFill>
        <p:spPr>
          <a:xfrm>
            <a:off x="1091062" y="1886590"/>
            <a:ext cx="359908" cy="359908"/>
          </a:xfrm>
          <a:prstGeom prst="rect">
            <a:avLst/>
          </a:prstGeom>
        </p:spPr>
      </p:pic>
      <p:sp>
        <p:nvSpPr>
          <p:cNvPr id="7" name="Text 4"/>
          <p:cNvSpPr/>
          <p:nvPr/>
        </p:nvSpPr>
        <p:spPr>
          <a:xfrm>
            <a:off x="1810512" y="1700784"/>
            <a:ext cx="4114800" cy="384048"/>
          </a:xfrm>
          <a:prstGeom prst="rect">
            <a:avLst/>
          </a:prstGeom>
          <a:noFill/>
          <a:ln/>
        </p:spPr>
        <p:txBody>
          <a:bodyPr wrap="square" rtlCol="0" anchor="ctr"/>
          <a:lstStyle/>
          <a:p>
            <a:pPr indent="0" marL="0">
              <a:buNone/>
            </a:pPr>
            <a:r>
              <a:rPr lang="en-US" sz="1850" b="1" dirty="0">
                <a:solidFill>
                  <a:srgbClr val="0B7A75"/>
                </a:solidFill>
                <a:latin typeface="Century Schoolbook" pitchFamily="34" charset="0"/>
                <a:ea typeface="Century Schoolbook" pitchFamily="34" charset="-122"/>
                <a:cs typeface="Century Schoolbook" pitchFamily="34" charset="-120"/>
              </a:rPr>
              <a:t>The Citizen</a:t>
            </a:r>
            <a:endParaRPr lang="en-US" sz="1850" dirty="0"/>
          </a:p>
        </p:txBody>
      </p:sp>
      <p:sp>
        <p:nvSpPr>
          <p:cNvPr id="8" name="Text 5"/>
          <p:cNvSpPr/>
          <p:nvPr/>
        </p:nvSpPr>
        <p:spPr>
          <a:xfrm>
            <a:off x="1810512" y="2139696"/>
            <a:ext cx="4069080" cy="822960"/>
          </a:xfrm>
          <a:prstGeom prst="rect">
            <a:avLst/>
          </a:prstGeom>
          <a:noFill/>
          <a:ln/>
        </p:spPr>
        <p:txBody>
          <a:bodyPr wrap="square" rtlCol="0" anchor="t"/>
          <a:lstStyle/>
          <a:p>
            <a:pPr indent="0" marL="0">
              <a:lnSpc>
                <a:spcPct val="110000"/>
              </a:lnSpc>
              <a:buNone/>
            </a:pPr>
            <a:r>
              <a:rPr lang="en-US" sz="1250" dirty="0">
                <a:solidFill>
                  <a:srgbClr val="1C2B31"/>
                </a:solidFill>
                <a:latin typeface="Calibri" pitchFamily="34" charset="0"/>
                <a:ea typeface="Calibri" pitchFamily="34" charset="-122"/>
                <a:cs typeface="Calibri" pitchFamily="34" charset="-120"/>
              </a:rPr>
              <a:t>Decides where to eat based on Google reviews, not real inspections — and doesn't know how to report a violation they see.</a:t>
            </a:r>
            <a:endParaRPr lang="en-US" sz="1250" dirty="0"/>
          </a:p>
        </p:txBody>
      </p:sp>
      <p:sp>
        <p:nvSpPr>
          <p:cNvPr id="9" name="Shape 6"/>
          <p:cNvSpPr/>
          <p:nvPr/>
        </p:nvSpPr>
        <p:spPr>
          <a:xfrm>
            <a:off x="6428232" y="1444752"/>
            <a:ext cx="5486400" cy="1627632"/>
          </a:xfrm>
          <a:prstGeom prst="roundRect">
            <a:avLst>
              <a:gd name="adj" fmla="val 6180"/>
            </a:avLst>
          </a:prstGeom>
          <a:solidFill>
            <a:srgbClr val="F4F7F6"/>
          </a:solidFill>
          <a:ln/>
          <a:effectLst>
            <a:outerShdw sx="100000" sy="100000" kx="0" ky="0" algn="bl" rotWithShape="0" blurRad="76200" dist="25400" dir="5400000">
              <a:srgbClr val="BBBBBB">
                <a:alpha val="40000"/>
              </a:srgbClr>
            </a:outerShdw>
          </a:effectLst>
        </p:spPr>
      </p:sp>
      <p:sp>
        <p:nvSpPr>
          <p:cNvPr id="10" name="Shape 7"/>
          <p:cNvSpPr/>
          <p:nvPr/>
        </p:nvSpPr>
        <p:spPr>
          <a:xfrm>
            <a:off x="6684264" y="1691640"/>
            <a:ext cx="749808" cy="749808"/>
          </a:xfrm>
          <a:prstGeom prst="ellipse">
            <a:avLst/>
          </a:prstGeom>
          <a:solidFill>
            <a:srgbClr val="E8A33D"/>
          </a:solidFill>
          <a:ln/>
        </p:spPr>
      </p:sp>
      <p:pic>
        <p:nvPicPr>
          <p:cNvPr id="11" name="Image 1" descr="icons/store_dark.png">    </p:cNvPr>
          <p:cNvPicPr>
            <a:picLocks noChangeAspect="1"/>
          </p:cNvPicPr>
          <p:nvPr/>
        </p:nvPicPr>
        <p:blipFill>
          <a:blip r:embed="rId2"/>
          <a:stretch>
            <a:fillRect/>
          </a:stretch>
        </p:blipFill>
        <p:spPr>
          <a:xfrm>
            <a:off x="6879214" y="1886590"/>
            <a:ext cx="359908" cy="359908"/>
          </a:xfrm>
          <a:prstGeom prst="rect">
            <a:avLst/>
          </a:prstGeom>
        </p:spPr>
      </p:pic>
      <p:sp>
        <p:nvSpPr>
          <p:cNvPr id="12" name="Text 8"/>
          <p:cNvSpPr/>
          <p:nvPr/>
        </p:nvSpPr>
        <p:spPr>
          <a:xfrm>
            <a:off x="7598664" y="1700784"/>
            <a:ext cx="4114800" cy="384048"/>
          </a:xfrm>
          <a:prstGeom prst="rect">
            <a:avLst/>
          </a:prstGeom>
          <a:noFill/>
          <a:ln/>
        </p:spPr>
        <p:txBody>
          <a:bodyPr wrap="square" rtlCol="0" anchor="ctr"/>
          <a:lstStyle/>
          <a:p>
            <a:pPr indent="0" marL="0">
              <a:buNone/>
            </a:pPr>
            <a:r>
              <a:rPr lang="en-US" sz="1850" b="1" dirty="0">
                <a:solidFill>
                  <a:srgbClr val="E8A33D"/>
                </a:solidFill>
                <a:latin typeface="Century Schoolbook" pitchFamily="34" charset="0"/>
                <a:ea typeface="Century Schoolbook" pitchFamily="34" charset="-122"/>
                <a:cs typeface="Century Schoolbook" pitchFamily="34" charset="-120"/>
              </a:rPr>
              <a:t>The Restaurant</a:t>
            </a:r>
            <a:endParaRPr lang="en-US" sz="1850" dirty="0"/>
          </a:p>
        </p:txBody>
      </p:sp>
      <p:sp>
        <p:nvSpPr>
          <p:cNvPr id="13" name="Text 9"/>
          <p:cNvSpPr/>
          <p:nvPr/>
        </p:nvSpPr>
        <p:spPr>
          <a:xfrm>
            <a:off x="7598664" y="2139696"/>
            <a:ext cx="4069080" cy="822960"/>
          </a:xfrm>
          <a:prstGeom prst="rect">
            <a:avLst/>
          </a:prstGeom>
          <a:noFill/>
          <a:ln/>
        </p:spPr>
        <p:txBody>
          <a:bodyPr wrap="square" rtlCol="0" anchor="t"/>
          <a:lstStyle/>
          <a:p>
            <a:pPr indent="0" marL="0">
              <a:lnSpc>
                <a:spcPct val="110000"/>
              </a:lnSpc>
              <a:buNone/>
            </a:pPr>
            <a:r>
              <a:rPr lang="en-US" sz="1250" dirty="0">
                <a:solidFill>
                  <a:srgbClr val="1C2B31"/>
                </a:solidFill>
                <a:latin typeface="Calibri" pitchFamily="34" charset="0"/>
                <a:ea typeface="Calibri" pitchFamily="34" charset="-122"/>
                <a:cs typeface="Calibri" pitchFamily="34" charset="-120"/>
              </a:rPr>
              <a:t>Even a compliant owner can't see which violations are on record, or how to fix them.</a:t>
            </a:r>
            <a:endParaRPr lang="en-US" sz="1250" dirty="0"/>
          </a:p>
        </p:txBody>
      </p:sp>
      <p:sp>
        <p:nvSpPr>
          <p:cNvPr id="14" name="Shape 10"/>
          <p:cNvSpPr/>
          <p:nvPr/>
        </p:nvSpPr>
        <p:spPr>
          <a:xfrm>
            <a:off x="640080" y="3255264"/>
            <a:ext cx="5486400" cy="1627632"/>
          </a:xfrm>
          <a:prstGeom prst="roundRect">
            <a:avLst>
              <a:gd name="adj" fmla="val 6180"/>
            </a:avLst>
          </a:prstGeom>
          <a:solidFill>
            <a:srgbClr val="F4F7F6"/>
          </a:solidFill>
          <a:ln/>
          <a:effectLst>
            <a:outerShdw sx="100000" sy="100000" kx="0" ky="0" algn="bl" rotWithShape="0" blurRad="76200" dist="25400" dir="5400000">
              <a:srgbClr val="BBBBBB">
                <a:alpha val="40000"/>
              </a:srgbClr>
            </a:outerShdw>
          </a:effectLst>
        </p:spPr>
      </p:sp>
      <p:sp>
        <p:nvSpPr>
          <p:cNvPr id="15" name="Shape 11"/>
          <p:cNvSpPr/>
          <p:nvPr/>
        </p:nvSpPr>
        <p:spPr>
          <a:xfrm>
            <a:off x="896112" y="3502152"/>
            <a:ext cx="749808" cy="749808"/>
          </a:xfrm>
          <a:prstGeom prst="ellipse">
            <a:avLst/>
          </a:prstGeom>
          <a:solidFill>
            <a:srgbClr val="C1443C"/>
          </a:solidFill>
          <a:ln/>
        </p:spPr>
      </p:sp>
      <p:pic>
        <p:nvPicPr>
          <p:cNvPr id="16" name="Image 2" descr="icons/clipboard_white.png">    </p:cNvPr>
          <p:cNvPicPr>
            <a:picLocks noChangeAspect="1"/>
          </p:cNvPicPr>
          <p:nvPr/>
        </p:nvPicPr>
        <p:blipFill>
          <a:blip r:embed="rId3"/>
          <a:stretch>
            <a:fillRect/>
          </a:stretch>
        </p:blipFill>
        <p:spPr>
          <a:xfrm>
            <a:off x="1091062" y="3697102"/>
            <a:ext cx="359908" cy="359908"/>
          </a:xfrm>
          <a:prstGeom prst="rect">
            <a:avLst/>
          </a:prstGeom>
        </p:spPr>
      </p:pic>
      <p:sp>
        <p:nvSpPr>
          <p:cNvPr id="17" name="Text 12"/>
          <p:cNvSpPr/>
          <p:nvPr/>
        </p:nvSpPr>
        <p:spPr>
          <a:xfrm>
            <a:off x="1810512" y="3511296"/>
            <a:ext cx="4114800" cy="384048"/>
          </a:xfrm>
          <a:prstGeom prst="rect">
            <a:avLst/>
          </a:prstGeom>
          <a:noFill/>
          <a:ln/>
        </p:spPr>
        <p:txBody>
          <a:bodyPr wrap="square" rtlCol="0" anchor="ctr"/>
          <a:lstStyle/>
          <a:p>
            <a:pPr indent="0" marL="0">
              <a:buNone/>
            </a:pPr>
            <a:r>
              <a:rPr lang="en-US" sz="1850" b="1" dirty="0">
                <a:solidFill>
                  <a:srgbClr val="C1443C"/>
                </a:solidFill>
                <a:latin typeface="Century Schoolbook" pitchFamily="34" charset="0"/>
                <a:ea typeface="Century Schoolbook" pitchFamily="34" charset="-122"/>
                <a:cs typeface="Century Schoolbook" pitchFamily="34" charset="-120"/>
              </a:rPr>
              <a:t>The Inspector</a:t>
            </a:r>
            <a:endParaRPr lang="en-US" sz="1850" dirty="0"/>
          </a:p>
        </p:txBody>
      </p:sp>
      <p:sp>
        <p:nvSpPr>
          <p:cNvPr id="18" name="Text 13"/>
          <p:cNvSpPr/>
          <p:nvPr/>
        </p:nvSpPr>
        <p:spPr>
          <a:xfrm>
            <a:off x="1810512" y="3950208"/>
            <a:ext cx="4069080" cy="822960"/>
          </a:xfrm>
          <a:prstGeom prst="rect">
            <a:avLst/>
          </a:prstGeom>
          <a:noFill/>
          <a:ln/>
        </p:spPr>
        <p:txBody>
          <a:bodyPr wrap="square" rtlCol="0" anchor="t"/>
          <a:lstStyle/>
          <a:p>
            <a:pPr indent="0" marL="0">
              <a:lnSpc>
                <a:spcPct val="110000"/>
              </a:lnSpc>
              <a:buNone/>
            </a:pPr>
            <a:r>
              <a:rPr lang="en-US" sz="1250" dirty="0">
                <a:solidFill>
                  <a:srgbClr val="1C2B31"/>
                </a:solidFill>
                <a:latin typeface="Calibri" pitchFamily="34" charset="0"/>
                <a:ea typeface="Calibri" pitchFamily="34" charset="-122"/>
                <a:cs typeface="Calibri" pitchFamily="34" charset="-120"/>
              </a:rPr>
              <a:t>Too many venues, too few inspectors. Visits are random — not risk-based — with no clear checklist of what to focus on.</a:t>
            </a:r>
            <a:endParaRPr lang="en-US" sz="1250" dirty="0"/>
          </a:p>
        </p:txBody>
      </p:sp>
      <p:sp>
        <p:nvSpPr>
          <p:cNvPr id="19" name="Shape 14"/>
          <p:cNvSpPr/>
          <p:nvPr/>
        </p:nvSpPr>
        <p:spPr>
          <a:xfrm>
            <a:off x="6428232" y="3255264"/>
            <a:ext cx="5486400" cy="1627632"/>
          </a:xfrm>
          <a:prstGeom prst="roundRect">
            <a:avLst>
              <a:gd name="adj" fmla="val 6180"/>
            </a:avLst>
          </a:prstGeom>
          <a:solidFill>
            <a:srgbClr val="F4F7F6"/>
          </a:solidFill>
          <a:ln/>
          <a:effectLst>
            <a:outerShdw sx="100000" sy="100000" kx="0" ky="0" algn="bl" rotWithShape="0" blurRad="76200" dist="25400" dir="5400000">
              <a:srgbClr val="BBBBBB">
                <a:alpha val="40000"/>
              </a:srgbClr>
            </a:outerShdw>
          </a:effectLst>
        </p:spPr>
      </p:sp>
      <p:sp>
        <p:nvSpPr>
          <p:cNvPr id="20" name="Shape 15"/>
          <p:cNvSpPr/>
          <p:nvPr/>
        </p:nvSpPr>
        <p:spPr>
          <a:xfrm>
            <a:off x="6684264" y="3502152"/>
            <a:ext cx="749808" cy="749808"/>
          </a:xfrm>
          <a:prstGeom prst="ellipse">
            <a:avLst/>
          </a:prstGeom>
          <a:solidFill>
            <a:srgbClr val="14323B"/>
          </a:solidFill>
          <a:ln/>
        </p:spPr>
      </p:sp>
      <p:pic>
        <p:nvPicPr>
          <p:cNvPr id="21" name="Image 3" descr="icons/building_white.png">    </p:cNvPr>
          <p:cNvPicPr>
            <a:picLocks noChangeAspect="1"/>
          </p:cNvPicPr>
          <p:nvPr/>
        </p:nvPicPr>
        <p:blipFill>
          <a:blip r:embed="rId4"/>
          <a:stretch>
            <a:fillRect/>
          </a:stretch>
        </p:blipFill>
        <p:spPr>
          <a:xfrm>
            <a:off x="6879214" y="3697102"/>
            <a:ext cx="359908" cy="359908"/>
          </a:xfrm>
          <a:prstGeom prst="rect">
            <a:avLst/>
          </a:prstGeom>
        </p:spPr>
      </p:pic>
      <p:sp>
        <p:nvSpPr>
          <p:cNvPr id="22" name="Text 16"/>
          <p:cNvSpPr/>
          <p:nvPr/>
        </p:nvSpPr>
        <p:spPr>
          <a:xfrm>
            <a:off x="7598664" y="3511296"/>
            <a:ext cx="4114800" cy="384048"/>
          </a:xfrm>
          <a:prstGeom prst="rect">
            <a:avLst/>
          </a:prstGeom>
          <a:noFill/>
          <a:ln/>
        </p:spPr>
        <p:txBody>
          <a:bodyPr wrap="square" rtlCol="0" anchor="ctr"/>
          <a:lstStyle/>
          <a:p>
            <a:pPr indent="0" marL="0">
              <a:buNone/>
            </a:pPr>
            <a:r>
              <a:rPr lang="en-US" sz="1850" b="1" dirty="0">
                <a:solidFill>
                  <a:srgbClr val="14323B"/>
                </a:solidFill>
                <a:latin typeface="Century Schoolbook" pitchFamily="34" charset="0"/>
                <a:ea typeface="Century Schoolbook" pitchFamily="34" charset="-122"/>
                <a:cs typeface="Century Schoolbook" pitchFamily="34" charset="-120"/>
              </a:rPr>
              <a:t>The Municipality</a:t>
            </a:r>
            <a:endParaRPr lang="en-US" sz="1850" dirty="0"/>
          </a:p>
        </p:txBody>
      </p:sp>
      <p:sp>
        <p:nvSpPr>
          <p:cNvPr id="23" name="Text 17"/>
          <p:cNvSpPr/>
          <p:nvPr/>
        </p:nvSpPr>
        <p:spPr>
          <a:xfrm>
            <a:off x="7598664" y="3950208"/>
            <a:ext cx="4069080" cy="822960"/>
          </a:xfrm>
          <a:prstGeom prst="rect">
            <a:avLst/>
          </a:prstGeom>
          <a:noFill/>
          <a:ln/>
        </p:spPr>
        <p:txBody>
          <a:bodyPr wrap="square" rtlCol="0" anchor="t"/>
          <a:lstStyle/>
          <a:p>
            <a:pPr indent="0" marL="0">
              <a:lnSpc>
                <a:spcPct val="110000"/>
              </a:lnSpc>
              <a:buNone/>
            </a:pPr>
            <a:r>
              <a:rPr lang="en-US" sz="1250" dirty="0">
                <a:solidFill>
                  <a:srgbClr val="1C2B31"/>
                </a:solidFill>
                <a:latin typeface="Calibri" pitchFamily="34" charset="0"/>
                <a:ea typeface="Calibri" pitchFamily="34" charset="-122"/>
                <a:cs typeface="Calibri" pitchFamily="34" charset="-120"/>
              </a:rPr>
              <a:t>No unified dashboard. Complaints are scattered, with no clear picture of which venues are actually high-risk.</a:t>
            </a:r>
            <a:endParaRPr lang="en-US" sz="1250" dirty="0"/>
          </a:p>
        </p:txBody>
      </p:sp>
      <p:sp>
        <p:nvSpPr>
          <p:cNvPr id="24" name="Shape 18"/>
          <p:cNvSpPr/>
          <p:nvPr/>
        </p:nvSpPr>
        <p:spPr>
          <a:xfrm>
            <a:off x="640080" y="5138928"/>
            <a:ext cx="10908792" cy="1417320"/>
          </a:xfrm>
          <a:prstGeom prst="roundRect">
            <a:avLst>
              <a:gd name="adj" fmla="val 7742"/>
            </a:avLst>
          </a:prstGeom>
          <a:solidFill>
            <a:srgbClr val="D8ECEA"/>
          </a:solidFill>
          <a:ln/>
        </p:spPr>
      </p:sp>
      <p:sp>
        <p:nvSpPr>
          <p:cNvPr id="25" name="Shape 19"/>
          <p:cNvSpPr/>
          <p:nvPr/>
        </p:nvSpPr>
        <p:spPr>
          <a:xfrm>
            <a:off x="6094476" y="5340096"/>
            <a:ext cx="12802" cy="1014984"/>
          </a:xfrm>
          <a:prstGeom prst="rect">
            <a:avLst/>
          </a:prstGeom>
          <a:solidFill>
            <a:srgbClr val="A9CFCB"/>
          </a:solidFill>
          <a:ln/>
        </p:spPr>
      </p:sp>
      <p:sp>
        <p:nvSpPr>
          <p:cNvPr id="26" name="Text 20"/>
          <p:cNvSpPr/>
          <p:nvPr/>
        </p:nvSpPr>
        <p:spPr>
          <a:xfrm>
            <a:off x="640080" y="5248656"/>
            <a:ext cx="5422392" cy="566928"/>
          </a:xfrm>
          <a:prstGeom prst="rect">
            <a:avLst/>
          </a:prstGeom>
          <a:noFill/>
          <a:ln/>
        </p:spPr>
        <p:txBody>
          <a:bodyPr wrap="square" rtlCol="0" anchor="ctr"/>
          <a:lstStyle/>
          <a:p>
            <a:pPr algn="ctr" indent="0" marL="0">
              <a:buNone/>
            </a:pPr>
            <a:r>
              <a:rPr lang="en-US" sz="4000" b="1" dirty="0">
                <a:solidFill>
                  <a:srgbClr val="0B7A75"/>
                </a:solidFill>
                <a:latin typeface="Century Schoolbook" pitchFamily="34" charset="0"/>
                <a:ea typeface="Century Schoolbook" pitchFamily="34" charset="-122"/>
                <a:cs typeface="Century Schoolbook" pitchFamily="34" charset="-120"/>
              </a:rPr>
              <a:t>86%</a:t>
            </a:r>
            <a:endParaRPr lang="en-US" sz="4000" dirty="0"/>
          </a:p>
        </p:txBody>
      </p:sp>
      <p:sp>
        <p:nvSpPr>
          <p:cNvPr id="27" name="Text 21"/>
          <p:cNvSpPr/>
          <p:nvPr/>
        </p:nvSpPr>
        <p:spPr>
          <a:xfrm>
            <a:off x="1005840" y="5824728"/>
            <a:ext cx="4690872" cy="566928"/>
          </a:xfrm>
          <a:prstGeom prst="rect">
            <a:avLst/>
          </a:prstGeom>
          <a:noFill/>
          <a:ln/>
        </p:spPr>
        <p:txBody>
          <a:bodyPr wrap="square" rtlCol="0" anchor="ctr"/>
          <a:lstStyle/>
          <a:p>
            <a:pPr algn="ctr" indent="0" marL="0">
              <a:lnSpc>
                <a:spcPct val="110000"/>
              </a:lnSpc>
              <a:buNone/>
            </a:pPr>
            <a:r>
              <a:rPr lang="en-US" sz="1200" dirty="0">
                <a:solidFill>
                  <a:srgbClr val="1C2B31"/>
                </a:solidFill>
                <a:latin typeface="Calibri" pitchFamily="34" charset="0"/>
                <a:ea typeface="Calibri" pitchFamily="34" charset="-122"/>
                <a:cs typeface="Calibri" pitchFamily="34" charset="-120"/>
              </a:rPr>
              <a:t>rely on Google reviews or friends' advice — not real inspections</a:t>
            </a:r>
            <a:endParaRPr lang="en-US" sz="1200" dirty="0"/>
          </a:p>
        </p:txBody>
      </p:sp>
      <p:sp>
        <p:nvSpPr>
          <p:cNvPr id="28" name="Text 22"/>
          <p:cNvSpPr/>
          <p:nvPr/>
        </p:nvSpPr>
        <p:spPr>
          <a:xfrm>
            <a:off x="6126480" y="5248656"/>
            <a:ext cx="5422392" cy="566928"/>
          </a:xfrm>
          <a:prstGeom prst="rect">
            <a:avLst/>
          </a:prstGeom>
          <a:noFill/>
          <a:ln/>
        </p:spPr>
        <p:txBody>
          <a:bodyPr wrap="square" rtlCol="0" anchor="ctr"/>
          <a:lstStyle/>
          <a:p>
            <a:pPr algn="ctr" indent="0" marL="0">
              <a:buNone/>
            </a:pPr>
            <a:r>
              <a:rPr lang="en-US" sz="4000" b="1" dirty="0">
                <a:solidFill>
                  <a:srgbClr val="E8A33D"/>
                </a:solidFill>
                <a:latin typeface="Century Schoolbook" pitchFamily="34" charset="0"/>
                <a:ea typeface="Century Schoolbook" pitchFamily="34" charset="-122"/>
                <a:cs typeface="Century Schoolbook" pitchFamily="34" charset="-120"/>
              </a:rPr>
              <a:t>88%</a:t>
            </a:r>
            <a:endParaRPr lang="en-US" sz="4000" dirty="0"/>
          </a:p>
        </p:txBody>
      </p:sp>
      <p:sp>
        <p:nvSpPr>
          <p:cNvPr id="29" name="Text 23"/>
          <p:cNvSpPr/>
          <p:nvPr/>
        </p:nvSpPr>
        <p:spPr>
          <a:xfrm>
            <a:off x="6492240" y="5824728"/>
            <a:ext cx="4690872" cy="566928"/>
          </a:xfrm>
          <a:prstGeom prst="rect">
            <a:avLst/>
          </a:prstGeom>
          <a:noFill/>
          <a:ln/>
        </p:spPr>
        <p:txBody>
          <a:bodyPr wrap="square" rtlCol="0" anchor="ctr"/>
          <a:lstStyle/>
          <a:p>
            <a:pPr algn="ctr" indent="0" marL="0">
              <a:lnSpc>
                <a:spcPct val="110000"/>
              </a:lnSpc>
              <a:buNone/>
            </a:pPr>
            <a:r>
              <a:rPr lang="en-US" sz="1200" dirty="0">
                <a:solidFill>
                  <a:srgbClr val="1C2B31"/>
                </a:solidFill>
                <a:latin typeface="Calibri" pitchFamily="34" charset="0"/>
                <a:ea typeface="Calibri" pitchFamily="34" charset="-122"/>
                <a:cs typeface="Calibri" pitchFamily="34" charset="-120"/>
              </a:rPr>
              <a:t>don't know how to file an official complaint</a:t>
            </a:r>
            <a:endParaRPr lang="en-US" sz="1200" dirty="0"/>
          </a:p>
        </p:txBody>
      </p:sp>
      <p:sp>
        <p:nvSpPr>
          <p:cNvPr id="30" name="Text 24"/>
          <p:cNvSpPr/>
          <p:nvPr/>
        </p:nvSpPr>
        <p:spPr>
          <a:xfrm>
            <a:off x="640080" y="6263640"/>
            <a:ext cx="10908792" cy="274320"/>
          </a:xfrm>
          <a:prstGeom prst="rect">
            <a:avLst/>
          </a:prstGeom>
          <a:noFill/>
          <a:ln/>
        </p:spPr>
        <p:txBody>
          <a:bodyPr wrap="square" rtlCol="0" anchor="ctr"/>
          <a:lstStyle/>
          <a:p>
            <a:pPr algn="ctr" indent="0" marL="0">
              <a:buNone/>
            </a:pPr>
            <a:r>
              <a:rPr lang="en-US" sz="1000" i="1" dirty="0">
                <a:solidFill>
                  <a:srgbClr val="5E7178"/>
                </a:solidFill>
                <a:latin typeface="Calibri" pitchFamily="34" charset="0"/>
                <a:ea typeface="Calibri" pitchFamily="34" charset="-122"/>
                <a:cs typeface="Calibri" pitchFamily="34" charset="-120"/>
              </a:rPr>
              <a:t>Based on a quick survey we ran with 50 people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23B"/>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4000" b="1" dirty="0">
                <a:solidFill>
                  <a:srgbClr val="FFFFFF"/>
                </a:solidFill>
                <a:latin typeface="Century Schoolbook" pitchFamily="34" charset="0"/>
                <a:ea typeface="Century Schoolbook" pitchFamily="34" charset="-122"/>
                <a:cs typeface="Century Schoolbook" pitchFamily="34" charset="-120"/>
              </a:rPr>
              <a:t>The Solution</a:t>
            </a:r>
            <a:endParaRPr lang="en-US" sz="4000" dirty="0"/>
          </a:p>
        </p:txBody>
      </p:sp>
      <p:sp>
        <p:nvSpPr>
          <p:cNvPr id="3" name="Text 1"/>
          <p:cNvSpPr/>
          <p:nvPr/>
        </p:nvSpPr>
        <p:spPr>
          <a:xfrm>
            <a:off x="658368" y="1170432"/>
            <a:ext cx="10789920" cy="457200"/>
          </a:xfrm>
          <a:prstGeom prst="rect">
            <a:avLst/>
          </a:prstGeom>
          <a:noFill/>
          <a:ln/>
        </p:spPr>
        <p:txBody>
          <a:bodyPr wrap="square" rtlCol="0" anchor="ctr"/>
          <a:lstStyle/>
          <a:p>
            <a:pPr indent="0" marL="0">
              <a:buNone/>
            </a:pPr>
            <a:r>
              <a:rPr lang="en-US" sz="1800" dirty="0">
                <a:solidFill>
                  <a:srgbClr val="CFE7E4"/>
                </a:solidFill>
                <a:latin typeface="Calibri" pitchFamily="34" charset="0"/>
                <a:ea typeface="Calibri" pitchFamily="34" charset="-122"/>
                <a:cs typeface="Calibri" pitchFamily="34" charset="-120"/>
              </a:rPr>
              <a:t>Not four tools. </a:t>
            </a:r>
            <a:pPr indent="0" marL="0">
              <a:buNone/>
            </a:pPr>
            <a:r>
              <a:rPr lang="en-US" sz="1800" b="1" dirty="0">
                <a:solidFill>
                  <a:srgbClr val="E8A33D"/>
                </a:solidFill>
                <a:latin typeface="Calibri" pitchFamily="34" charset="0"/>
                <a:ea typeface="Calibri" pitchFamily="34" charset="-122"/>
                <a:cs typeface="Calibri" pitchFamily="34" charset="-120"/>
              </a:rPr>
              <a:t>One living loop</a:t>
            </a:r>
            <a:pPr indent="0" marL="0">
              <a:buNone/>
            </a:pPr>
            <a:r>
              <a:rPr lang="en-US" sz="1800" dirty="0">
                <a:solidFill>
                  <a:srgbClr val="CFE7E4"/>
                </a:solidFill>
                <a:latin typeface="Calibri" pitchFamily="34" charset="0"/>
                <a:ea typeface="Calibri" pitchFamily="34" charset="-122"/>
                <a:cs typeface="Calibri" pitchFamily="34" charset="-120"/>
              </a:rPr>
              <a:t> where every action feeds the next.</a:t>
            </a:r>
            <a:endParaRPr lang="en-US" sz="1800" dirty="0"/>
          </a:p>
        </p:txBody>
      </p:sp>
      <p:sp>
        <p:nvSpPr>
          <p:cNvPr id="4" name="Shape 2"/>
          <p:cNvSpPr/>
          <p:nvPr/>
        </p:nvSpPr>
        <p:spPr>
          <a:xfrm>
            <a:off x="640080" y="1965960"/>
            <a:ext cx="3611880" cy="1828800"/>
          </a:xfrm>
          <a:prstGeom prst="roundRect">
            <a:avLst>
              <a:gd name="adj" fmla="val 5000"/>
            </a:avLst>
          </a:prstGeom>
          <a:solidFill>
            <a:srgbClr val="1B3D46"/>
          </a:solidFill>
          <a:ln w="12700">
            <a:solidFill>
              <a:srgbClr val="0B7A75"/>
            </a:solidFill>
            <a:prstDash val="solid"/>
          </a:ln>
        </p:spPr>
      </p:sp>
      <p:sp>
        <p:nvSpPr>
          <p:cNvPr id="5" name="Shape 3"/>
          <p:cNvSpPr/>
          <p:nvPr/>
        </p:nvSpPr>
        <p:spPr>
          <a:xfrm>
            <a:off x="896112" y="2240280"/>
            <a:ext cx="731520" cy="731520"/>
          </a:xfrm>
          <a:prstGeom prst="ellipse">
            <a:avLst/>
          </a:prstGeom>
          <a:solidFill>
            <a:srgbClr val="0B7A75"/>
          </a:solidFill>
          <a:ln/>
        </p:spPr>
      </p:sp>
      <p:pic>
        <p:nvPicPr>
          <p:cNvPr id="6" name="Image 0" descr="icons/qr_white.png">    </p:cNvPr>
          <p:cNvPicPr>
            <a:picLocks noChangeAspect="1"/>
          </p:cNvPicPr>
          <p:nvPr/>
        </p:nvPicPr>
        <p:blipFill>
          <a:blip r:embed="rId1"/>
          <a:stretch>
            <a:fillRect/>
          </a:stretch>
        </p:blipFill>
        <p:spPr>
          <a:xfrm>
            <a:off x="1086307" y="2430475"/>
            <a:ext cx="351130" cy="351130"/>
          </a:xfrm>
          <a:prstGeom prst="rect">
            <a:avLst/>
          </a:prstGeom>
        </p:spPr>
      </p:pic>
      <p:sp>
        <p:nvSpPr>
          <p:cNvPr id="7" name="Shape 4"/>
          <p:cNvSpPr/>
          <p:nvPr/>
        </p:nvSpPr>
        <p:spPr>
          <a:xfrm>
            <a:off x="3630168" y="2185416"/>
            <a:ext cx="402336" cy="402336"/>
          </a:xfrm>
          <a:prstGeom prst="ellipse">
            <a:avLst/>
          </a:prstGeom>
          <a:solidFill>
            <a:srgbClr val="E8A33D"/>
          </a:solidFill>
          <a:ln/>
        </p:spPr>
      </p:sp>
      <p:sp>
        <p:nvSpPr>
          <p:cNvPr id="8" name="Text 5"/>
          <p:cNvSpPr/>
          <p:nvPr/>
        </p:nvSpPr>
        <p:spPr>
          <a:xfrm>
            <a:off x="3630168" y="2185416"/>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877824" y="2990088"/>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Citizen scans QR</a:t>
            </a:r>
            <a:endParaRPr lang="en-US" sz="1600" dirty="0"/>
          </a:p>
        </p:txBody>
      </p:sp>
      <p:sp>
        <p:nvSpPr>
          <p:cNvPr id="10" name="Text 7"/>
          <p:cNvSpPr/>
          <p:nvPr/>
        </p:nvSpPr>
        <p:spPr>
          <a:xfrm>
            <a:off x="877824" y="3337560"/>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Sees the grade &amp; full history on the door</a:t>
            </a:r>
            <a:endParaRPr lang="en-US" sz="1200" dirty="0"/>
          </a:p>
        </p:txBody>
      </p:sp>
      <p:sp>
        <p:nvSpPr>
          <p:cNvPr id="11" name="Shape 8"/>
          <p:cNvSpPr/>
          <p:nvPr/>
        </p:nvSpPr>
        <p:spPr>
          <a:xfrm>
            <a:off x="4489704" y="1965960"/>
            <a:ext cx="3611880" cy="1828800"/>
          </a:xfrm>
          <a:prstGeom prst="roundRect">
            <a:avLst>
              <a:gd name="adj" fmla="val 5000"/>
            </a:avLst>
          </a:prstGeom>
          <a:solidFill>
            <a:srgbClr val="1B3D46"/>
          </a:solidFill>
          <a:ln w="12700">
            <a:solidFill>
              <a:srgbClr val="0B7A75"/>
            </a:solidFill>
            <a:prstDash val="solid"/>
          </a:ln>
        </p:spPr>
      </p:sp>
      <p:sp>
        <p:nvSpPr>
          <p:cNvPr id="12" name="Shape 9"/>
          <p:cNvSpPr/>
          <p:nvPr/>
        </p:nvSpPr>
        <p:spPr>
          <a:xfrm>
            <a:off x="4745736" y="2240280"/>
            <a:ext cx="731520" cy="731520"/>
          </a:xfrm>
          <a:prstGeom prst="ellipse">
            <a:avLst/>
          </a:prstGeom>
          <a:solidFill>
            <a:srgbClr val="0B7A75"/>
          </a:solidFill>
          <a:ln/>
        </p:spPr>
      </p:sp>
      <p:pic>
        <p:nvPicPr>
          <p:cNvPr id="13" name="Image 1" descr="icons/warning_white.png">    </p:cNvPr>
          <p:cNvPicPr>
            <a:picLocks noChangeAspect="1"/>
          </p:cNvPicPr>
          <p:nvPr/>
        </p:nvPicPr>
        <p:blipFill>
          <a:blip r:embed="rId2"/>
          <a:stretch>
            <a:fillRect/>
          </a:stretch>
        </p:blipFill>
        <p:spPr>
          <a:xfrm>
            <a:off x="4935931" y="2430475"/>
            <a:ext cx="351130" cy="351130"/>
          </a:xfrm>
          <a:prstGeom prst="rect">
            <a:avLst/>
          </a:prstGeom>
        </p:spPr>
      </p:pic>
      <p:sp>
        <p:nvSpPr>
          <p:cNvPr id="14" name="Shape 10"/>
          <p:cNvSpPr/>
          <p:nvPr/>
        </p:nvSpPr>
        <p:spPr>
          <a:xfrm>
            <a:off x="7479792" y="2185416"/>
            <a:ext cx="402336" cy="402336"/>
          </a:xfrm>
          <a:prstGeom prst="ellipse">
            <a:avLst/>
          </a:prstGeom>
          <a:solidFill>
            <a:srgbClr val="E8A33D"/>
          </a:solidFill>
          <a:ln/>
        </p:spPr>
      </p:sp>
      <p:sp>
        <p:nvSpPr>
          <p:cNvPr id="15" name="Text 11"/>
          <p:cNvSpPr/>
          <p:nvPr/>
        </p:nvSpPr>
        <p:spPr>
          <a:xfrm>
            <a:off x="7479792" y="2185416"/>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2</a:t>
            </a:r>
            <a:endParaRPr lang="en-US" sz="1600" dirty="0"/>
          </a:p>
        </p:txBody>
      </p:sp>
      <p:sp>
        <p:nvSpPr>
          <p:cNvPr id="16" name="Text 12"/>
          <p:cNvSpPr/>
          <p:nvPr/>
        </p:nvSpPr>
        <p:spPr>
          <a:xfrm>
            <a:off x="4727448" y="2990088"/>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Files &amp; tracks a complaint</a:t>
            </a:r>
            <a:endParaRPr lang="en-US" sz="1600" dirty="0"/>
          </a:p>
        </p:txBody>
      </p:sp>
      <p:sp>
        <p:nvSpPr>
          <p:cNvPr id="17" name="Text 13"/>
          <p:cNvSpPr/>
          <p:nvPr/>
        </p:nvSpPr>
        <p:spPr>
          <a:xfrm>
            <a:off x="4727448" y="3337560"/>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Photo + description in under a minute, anonymous, trackable anytime</a:t>
            </a:r>
            <a:endParaRPr lang="en-US" sz="1200" dirty="0"/>
          </a:p>
        </p:txBody>
      </p:sp>
      <p:sp>
        <p:nvSpPr>
          <p:cNvPr id="18" name="Shape 14"/>
          <p:cNvSpPr/>
          <p:nvPr/>
        </p:nvSpPr>
        <p:spPr>
          <a:xfrm>
            <a:off x="8339328" y="1965960"/>
            <a:ext cx="3611880" cy="1828800"/>
          </a:xfrm>
          <a:prstGeom prst="roundRect">
            <a:avLst>
              <a:gd name="adj" fmla="val 5000"/>
            </a:avLst>
          </a:prstGeom>
          <a:solidFill>
            <a:srgbClr val="1B3D46"/>
          </a:solidFill>
          <a:ln w="12700">
            <a:solidFill>
              <a:srgbClr val="0B7A75"/>
            </a:solidFill>
            <a:prstDash val="solid"/>
          </a:ln>
        </p:spPr>
      </p:sp>
      <p:sp>
        <p:nvSpPr>
          <p:cNvPr id="19" name="Shape 15"/>
          <p:cNvSpPr/>
          <p:nvPr/>
        </p:nvSpPr>
        <p:spPr>
          <a:xfrm>
            <a:off x="8595360" y="2240280"/>
            <a:ext cx="731520" cy="731520"/>
          </a:xfrm>
          <a:prstGeom prst="ellipse">
            <a:avLst/>
          </a:prstGeom>
          <a:solidFill>
            <a:srgbClr val="0B7A75"/>
          </a:solidFill>
          <a:ln/>
        </p:spPr>
      </p:sp>
      <p:pic>
        <p:nvPicPr>
          <p:cNvPr id="20" name="Image 2" descr="icons/gauge_white.png">    </p:cNvPr>
          <p:cNvPicPr>
            <a:picLocks noChangeAspect="1"/>
          </p:cNvPicPr>
          <p:nvPr/>
        </p:nvPicPr>
        <p:blipFill>
          <a:blip r:embed="rId3"/>
          <a:stretch>
            <a:fillRect/>
          </a:stretch>
        </p:blipFill>
        <p:spPr>
          <a:xfrm>
            <a:off x="8785555" y="2430475"/>
            <a:ext cx="351130" cy="351130"/>
          </a:xfrm>
          <a:prstGeom prst="rect">
            <a:avLst/>
          </a:prstGeom>
        </p:spPr>
      </p:pic>
      <p:sp>
        <p:nvSpPr>
          <p:cNvPr id="21" name="Shape 16"/>
          <p:cNvSpPr/>
          <p:nvPr/>
        </p:nvSpPr>
        <p:spPr>
          <a:xfrm>
            <a:off x="11329416" y="2185416"/>
            <a:ext cx="402336" cy="402336"/>
          </a:xfrm>
          <a:prstGeom prst="ellipse">
            <a:avLst/>
          </a:prstGeom>
          <a:solidFill>
            <a:srgbClr val="E8A33D"/>
          </a:solidFill>
          <a:ln/>
        </p:spPr>
      </p:sp>
      <p:sp>
        <p:nvSpPr>
          <p:cNvPr id="22" name="Text 17"/>
          <p:cNvSpPr/>
          <p:nvPr/>
        </p:nvSpPr>
        <p:spPr>
          <a:xfrm>
            <a:off x="11329416" y="2185416"/>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3</a:t>
            </a:r>
            <a:endParaRPr lang="en-US" sz="1600" dirty="0"/>
          </a:p>
        </p:txBody>
      </p:sp>
      <p:sp>
        <p:nvSpPr>
          <p:cNvPr id="23" name="Text 18"/>
          <p:cNvSpPr/>
          <p:nvPr/>
        </p:nvSpPr>
        <p:spPr>
          <a:xfrm>
            <a:off x="8577072" y="2990088"/>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Risk score rises</a:t>
            </a:r>
            <a:endParaRPr lang="en-US" sz="1600" dirty="0"/>
          </a:p>
        </p:txBody>
      </p:sp>
      <p:sp>
        <p:nvSpPr>
          <p:cNvPr id="24" name="Text 19"/>
          <p:cNvSpPr/>
          <p:nvPr/>
        </p:nvSpPr>
        <p:spPr>
          <a:xfrm>
            <a:off x="8577072" y="3337560"/>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Venue climbs the inspector's queue</a:t>
            </a:r>
            <a:endParaRPr lang="en-US" sz="1200" dirty="0"/>
          </a:p>
        </p:txBody>
      </p:sp>
      <p:sp>
        <p:nvSpPr>
          <p:cNvPr id="25" name="Shape 20"/>
          <p:cNvSpPr/>
          <p:nvPr/>
        </p:nvSpPr>
        <p:spPr>
          <a:xfrm>
            <a:off x="640080" y="4105656"/>
            <a:ext cx="3611880" cy="1828800"/>
          </a:xfrm>
          <a:prstGeom prst="roundRect">
            <a:avLst>
              <a:gd name="adj" fmla="val 5000"/>
            </a:avLst>
          </a:prstGeom>
          <a:solidFill>
            <a:srgbClr val="1B3D46"/>
          </a:solidFill>
          <a:ln w="12700">
            <a:solidFill>
              <a:srgbClr val="0B7A75"/>
            </a:solidFill>
            <a:prstDash val="solid"/>
          </a:ln>
        </p:spPr>
      </p:sp>
      <p:sp>
        <p:nvSpPr>
          <p:cNvPr id="26" name="Shape 21"/>
          <p:cNvSpPr/>
          <p:nvPr/>
        </p:nvSpPr>
        <p:spPr>
          <a:xfrm>
            <a:off x="896112" y="4379976"/>
            <a:ext cx="731520" cy="731520"/>
          </a:xfrm>
          <a:prstGeom prst="ellipse">
            <a:avLst/>
          </a:prstGeom>
          <a:solidFill>
            <a:srgbClr val="0B7A75"/>
          </a:solidFill>
          <a:ln/>
        </p:spPr>
      </p:sp>
      <p:pic>
        <p:nvPicPr>
          <p:cNvPr id="27" name="Image 3" descr="icons/clipboard_white.png">    </p:cNvPr>
          <p:cNvPicPr>
            <a:picLocks noChangeAspect="1"/>
          </p:cNvPicPr>
          <p:nvPr/>
        </p:nvPicPr>
        <p:blipFill>
          <a:blip r:embed="rId4"/>
          <a:stretch>
            <a:fillRect/>
          </a:stretch>
        </p:blipFill>
        <p:spPr>
          <a:xfrm>
            <a:off x="1086307" y="4570171"/>
            <a:ext cx="351130" cy="351130"/>
          </a:xfrm>
          <a:prstGeom prst="rect">
            <a:avLst/>
          </a:prstGeom>
        </p:spPr>
      </p:pic>
      <p:sp>
        <p:nvSpPr>
          <p:cNvPr id="28" name="Shape 22"/>
          <p:cNvSpPr/>
          <p:nvPr/>
        </p:nvSpPr>
        <p:spPr>
          <a:xfrm>
            <a:off x="3630168" y="4325112"/>
            <a:ext cx="402336" cy="402336"/>
          </a:xfrm>
          <a:prstGeom prst="ellipse">
            <a:avLst/>
          </a:prstGeom>
          <a:solidFill>
            <a:srgbClr val="E8A33D"/>
          </a:solidFill>
          <a:ln/>
        </p:spPr>
      </p:sp>
      <p:sp>
        <p:nvSpPr>
          <p:cNvPr id="29" name="Text 23"/>
          <p:cNvSpPr/>
          <p:nvPr/>
        </p:nvSpPr>
        <p:spPr>
          <a:xfrm>
            <a:off x="3630168" y="4325112"/>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4</a:t>
            </a:r>
            <a:endParaRPr lang="en-US" sz="1600" dirty="0"/>
          </a:p>
        </p:txBody>
      </p:sp>
      <p:sp>
        <p:nvSpPr>
          <p:cNvPr id="30" name="Text 24"/>
          <p:cNvSpPr/>
          <p:nvPr/>
        </p:nvSpPr>
        <p:spPr>
          <a:xfrm>
            <a:off x="877824" y="5129784"/>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Inspector visits</a:t>
            </a:r>
            <a:endParaRPr lang="en-US" sz="1600" dirty="0"/>
          </a:p>
        </p:txBody>
      </p:sp>
      <p:sp>
        <p:nvSpPr>
          <p:cNvPr id="31" name="Text 25"/>
          <p:cNvSpPr/>
          <p:nvPr/>
        </p:nvSpPr>
        <p:spPr>
          <a:xfrm>
            <a:off x="877824" y="5477256"/>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Digital checklist tells them exactly what to check, works fully offline</a:t>
            </a:r>
            <a:endParaRPr lang="en-US" sz="1200" dirty="0"/>
          </a:p>
        </p:txBody>
      </p:sp>
      <p:sp>
        <p:nvSpPr>
          <p:cNvPr id="32" name="Shape 26"/>
          <p:cNvSpPr/>
          <p:nvPr/>
        </p:nvSpPr>
        <p:spPr>
          <a:xfrm>
            <a:off x="4489704" y="4105656"/>
            <a:ext cx="3611880" cy="1828800"/>
          </a:xfrm>
          <a:prstGeom prst="roundRect">
            <a:avLst>
              <a:gd name="adj" fmla="val 5000"/>
            </a:avLst>
          </a:prstGeom>
          <a:solidFill>
            <a:srgbClr val="1B3D46"/>
          </a:solidFill>
          <a:ln w="12700">
            <a:solidFill>
              <a:srgbClr val="0B7A75"/>
            </a:solidFill>
            <a:prstDash val="solid"/>
          </a:ln>
        </p:spPr>
      </p:sp>
      <p:sp>
        <p:nvSpPr>
          <p:cNvPr id="33" name="Shape 27"/>
          <p:cNvSpPr/>
          <p:nvPr/>
        </p:nvSpPr>
        <p:spPr>
          <a:xfrm>
            <a:off x="4745736" y="4379976"/>
            <a:ext cx="731520" cy="731520"/>
          </a:xfrm>
          <a:prstGeom prst="ellipse">
            <a:avLst/>
          </a:prstGeom>
          <a:solidFill>
            <a:srgbClr val="0B7A75"/>
          </a:solidFill>
          <a:ln/>
        </p:spPr>
      </p:sp>
      <p:pic>
        <p:nvPicPr>
          <p:cNvPr id="34" name="Image 4" descr="icons/store_white.png">    </p:cNvPr>
          <p:cNvPicPr>
            <a:picLocks noChangeAspect="1"/>
          </p:cNvPicPr>
          <p:nvPr/>
        </p:nvPicPr>
        <p:blipFill>
          <a:blip r:embed="rId5"/>
          <a:stretch>
            <a:fillRect/>
          </a:stretch>
        </p:blipFill>
        <p:spPr>
          <a:xfrm>
            <a:off x="4935931" y="4570171"/>
            <a:ext cx="351130" cy="351130"/>
          </a:xfrm>
          <a:prstGeom prst="rect">
            <a:avLst/>
          </a:prstGeom>
        </p:spPr>
      </p:pic>
      <p:sp>
        <p:nvSpPr>
          <p:cNvPr id="35" name="Shape 28"/>
          <p:cNvSpPr/>
          <p:nvPr/>
        </p:nvSpPr>
        <p:spPr>
          <a:xfrm>
            <a:off x="7479792" y="4325112"/>
            <a:ext cx="402336" cy="402336"/>
          </a:xfrm>
          <a:prstGeom prst="ellipse">
            <a:avLst/>
          </a:prstGeom>
          <a:solidFill>
            <a:srgbClr val="E8A33D"/>
          </a:solidFill>
          <a:ln/>
        </p:spPr>
      </p:sp>
      <p:sp>
        <p:nvSpPr>
          <p:cNvPr id="36" name="Text 29"/>
          <p:cNvSpPr/>
          <p:nvPr/>
        </p:nvSpPr>
        <p:spPr>
          <a:xfrm>
            <a:off x="7479792" y="4325112"/>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5</a:t>
            </a:r>
            <a:endParaRPr lang="en-US" sz="1600" dirty="0"/>
          </a:p>
        </p:txBody>
      </p:sp>
      <p:sp>
        <p:nvSpPr>
          <p:cNvPr id="37" name="Text 30"/>
          <p:cNvSpPr/>
          <p:nvPr/>
        </p:nvSpPr>
        <p:spPr>
          <a:xfrm>
            <a:off x="4727448" y="5129784"/>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Owner fixes &amp; proves</a:t>
            </a:r>
            <a:endParaRPr lang="en-US" sz="1600" dirty="0"/>
          </a:p>
        </p:txBody>
      </p:sp>
      <p:sp>
        <p:nvSpPr>
          <p:cNvPr id="38" name="Text 31"/>
          <p:cNvSpPr/>
          <p:nvPr/>
        </p:nvSpPr>
        <p:spPr>
          <a:xfrm>
            <a:off x="4727448" y="5477256"/>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Sees the exact violation + a fix recommendation, uploads proof</a:t>
            </a:r>
            <a:endParaRPr lang="en-US" sz="1200" dirty="0"/>
          </a:p>
        </p:txBody>
      </p:sp>
      <p:sp>
        <p:nvSpPr>
          <p:cNvPr id="39" name="Shape 32"/>
          <p:cNvSpPr/>
          <p:nvPr/>
        </p:nvSpPr>
        <p:spPr>
          <a:xfrm>
            <a:off x="8339328" y="4105656"/>
            <a:ext cx="3611880" cy="1828800"/>
          </a:xfrm>
          <a:prstGeom prst="roundRect">
            <a:avLst>
              <a:gd name="adj" fmla="val 5000"/>
            </a:avLst>
          </a:prstGeom>
          <a:solidFill>
            <a:srgbClr val="1B3D46"/>
          </a:solidFill>
          <a:ln w="12700">
            <a:solidFill>
              <a:srgbClr val="0B7A75"/>
            </a:solidFill>
            <a:prstDash val="solid"/>
          </a:ln>
        </p:spPr>
      </p:sp>
      <p:sp>
        <p:nvSpPr>
          <p:cNvPr id="40" name="Shape 33"/>
          <p:cNvSpPr/>
          <p:nvPr/>
        </p:nvSpPr>
        <p:spPr>
          <a:xfrm>
            <a:off x="8595360" y="4379976"/>
            <a:ext cx="731520" cy="731520"/>
          </a:xfrm>
          <a:prstGeom prst="ellipse">
            <a:avLst/>
          </a:prstGeom>
          <a:solidFill>
            <a:srgbClr val="0B7A75"/>
          </a:solidFill>
          <a:ln/>
        </p:spPr>
      </p:sp>
      <p:pic>
        <p:nvPicPr>
          <p:cNvPr id="41" name="Image 5" descr="icons/refresh_white.png">    </p:cNvPr>
          <p:cNvPicPr>
            <a:picLocks noChangeAspect="1"/>
          </p:cNvPicPr>
          <p:nvPr/>
        </p:nvPicPr>
        <p:blipFill>
          <a:blip r:embed="rId6"/>
          <a:stretch>
            <a:fillRect/>
          </a:stretch>
        </p:blipFill>
        <p:spPr>
          <a:xfrm>
            <a:off x="8785555" y="4570171"/>
            <a:ext cx="351130" cy="351130"/>
          </a:xfrm>
          <a:prstGeom prst="rect">
            <a:avLst/>
          </a:prstGeom>
        </p:spPr>
      </p:pic>
      <p:sp>
        <p:nvSpPr>
          <p:cNvPr id="42" name="Shape 34"/>
          <p:cNvSpPr/>
          <p:nvPr/>
        </p:nvSpPr>
        <p:spPr>
          <a:xfrm>
            <a:off x="11329416" y="4325112"/>
            <a:ext cx="402336" cy="402336"/>
          </a:xfrm>
          <a:prstGeom prst="ellipse">
            <a:avLst/>
          </a:prstGeom>
          <a:solidFill>
            <a:srgbClr val="E8A33D"/>
          </a:solidFill>
          <a:ln/>
        </p:spPr>
      </p:sp>
      <p:sp>
        <p:nvSpPr>
          <p:cNvPr id="43" name="Text 35"/>
          <p:cNvSpPr/>
          <p:nvPr/>
        </p:nvSpPr>
        <p:spPr>
          <a:xfrm>
            <a:off x="11329416" y="4325112"/>
            <a:ext cx="402336" cy="402336"/>
          </a:xfrm>
          <a:prstGeom prst="rect">
            <a:avLst/>
          </a:prstGeom>
          <a:noFill/>
          <a:ln/>
        </p:spPr>
        <p:txBody>
          <a:bodyPr wrap="square" rtlCol="0" anchor="ctr"/>
          <a:lstStyle/>
          <a:p>
            <a:pPr algn="ctr" indent="0" marL="0">
              <a:buNone/>
            </a:pPr>
            <a:r>
              <a:rPr lang="en-US" sz="1600" b="1" dirty="0">
                <a:solidFill>
                  <a:srgbClr val="14323B"/>
                </a:solidFill>
                <a:latin typeface="Calibri" pitchFamily="34" charset="0"/>
                <a:ea typeface="Calibri" pitchFamily="34" charset="-122"/>
                <a:cs typeface="Calibri" pitchFamily="34" charset="-120"/>
              </a:rPr>
              <a:t>6</a:t>
            </a:r>
            <a:endParaRPr lang="en-US" sz="1600" dirty="0"/>
          </a:p>
        </p:txBody>
      </p:sp>
      <p:sp>
        <p:nvSpPr>
          <p:cNvPr id="44" name="Text 36"/>
          <p:cNvSpPr/>
          <p:nvPr/>
        </p:nvSpPr>
        <p:spPr>
          <a:xfrm>
            <a:off x="8577072" y="5129784"/>
            <a:ext cx="3154680" cy="365760"/>
          </a:xfrm>
          <a:prstGeom prst="rect">
            <a:avLst/>
          </a:prstGeom>
          <a:noFill/>
          <a:ln/>
        </p:spPr>
        <p:txBody>
          <a:bodyPr wrap="square"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Municipality sees it all</a:t>
            </a:r>
            <a:endParaRPr lang="en-US" sz="1600" dirty="0"/>
          </a:p>
        </p:txBody>
      </p:sp>
      <p:sp>
        <p:nvSpPr>
          <p:cNvPr id="45" name="Text 37"/>
          <p:cNvSpPr/>
          <p:nvPr/>
        </p:nvSpPr>
        <p:spPr>
          <a:xfrm>
            <a:off x="8577072" y="5477256"/>
            <a:ext cx="3154680" cy="402336"/>
          </a:xfrm>
          <a:prstGeom prst="rect">
            <a:avLst/>
          </a:prstGeom>
          <a:noFill/>
          <a:ln/>
        </p:spPr>
        <p:txBody>
          <a:bodyPr wrap="square" rtlCol="0" anchor="ctr"/>
          <a:lstStyle/>
          <a:p>
            <a:pPr indent="0" marL="0">
              <a:lnSpc>
                <a:spcPct val="105000"/>
              </a:lnSpc>
              <a:buNone/>
            </a:pPr>
            <a:r>
              <a:rPr lang="en-US" sz="1200" dirty="0">
                <a:solidFill>
                  <a:srgbClr val="AFCBC8"/>
                </a:solidFill>
                <a:latin typeface="Calibri" pitchFamily="34" charset="0"/>
                <a:ea typeface="Calibri" pitchFamily="34" charset="-122"/>
                <a:cs typeface="Calibri" pitchFamily="34" charset="-120"/>
              </a:rPr>
              <a:t>Every complaint, grade &amp; risky venue — on one dashboard</a:t>
            </a:r>
            <a:endParaRPr lang="en-US" sz="1200" dirty="0"/>
          </a:p>
        </p:txBody>
      </p:sp>
      <p:sp>
        <p:nvSpPr>
          <p:cNvPr id="46" name="Text 38"/>
          <p:cNvSpPr/>
          <p:nvPr/>
        </p:nvSpPr>
        <p:spPr>
          <a:xfrm>
            <a:off x="640080" y="5989320"/>
            <a:ext cx="10972800" cy="457200"/>
          </a:xfrm>
          <a:prstGeom prst="rect">
            <a:avLst/>
          </a:prstGeom>
          <a:noFill/>
          <a:ln/>
        </p:spPr>
        <p:txBody>
          <a:bodyPr wrap="square" rtlCol="0" anchor="ctr"/>
          <a:lstStyle/>
          <a:p>
            <a:pPr algn="ctr" indent="0" marL="0">
              <a:buNone/>
            </a:pPr>
            <a:r>
              <a:rPr lang="en-US" sz="1500" i="1" dirty="0">
                <a:solidFill>
                  <a:srgbClr val="E8A33D"/>
                </a:solidFill>
                <a:latin typeface="Calibri" pitchFamily="34" charset="0"/>
                <a:ea typeface="Calibri" pitchFamily="34" charset="-122"/>
                <a:cs typeface="Calibri" pitchFamily="34" charset="-120"/>
              </a:rPr>
              <a:t>↻  The loop closes itself — and starts again.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56048" y="1783080"/>
            <a:ext cx="2286000" cy="2286000"/>
          </a:xfrm>
          <a:prstGeom prst="roundRect">
            <a:avLst>
              <a:gd name="adj" fmla="val 8000"/>
            </a:avLst>
          </a:prstGeom>
          <a:solidFill>
            <a:srgbClr val="FFFFFF">
              <a:alpha val="12000"/>
            </a:srgbClr>
          </a:solidFill>
          <a:ln w="19050">
            <a:solidFill>
              <a:srgbClr val="8FC9C4"/>
            </a:solidFill>
            <a:prstDash val="solid"/>
          </a:ln>
        </p:spPr>
      </p:sp>
      <p:sp>
        <p:nvSpPr>
          <p:cNvPr id="3" name="Shape 1"/>
          <p:cNvSpPr/>
          <p:nvPr/>
        </p:nvSpPr>
        <p:spPr>
          <a:xfrm>
            <a:off x="5504688" y="2331720"/>
            <a:ext cx="1188720" cy="1188720"/>
          </a:xfrm>
          <a:prstGeom prst="ellipse">
            <a:avLst/>
          </a:prstGeom>
          <a:solidFill>
            <a:srgbClr val="E8A33D"/>
          </a:solidFill>
          <a:ln/>
        </p:spPr>
      </p:sp>
      <p:pic>
        <p:nvPicPr>
          <p:cNvPr id="4" name="Image 0" descr="icons/mobile_dark.png">    </p:cNvPr>
          <p:cNvPicPr>
            <a:picLocks noChangeAspect="1"/>
          </p:cNvPicPr>
          <p:nvPr/>
        </p:nvPicPr>
        <p:blipFill>
          <a:blip r:embed="rId2"/>
          <a:stretch>
            <a:fillRect/>
          </a:stretch>
        </p:blipFill>
        <p:spPr>
          <a:xfrm>
            <a:off x="5813755" y="2640787"/>
            <a:ext cx="570586" cy="570586"/>
          </a:xfrm>
          <a:prstGeom prst="rect">
            <a:avLst/>
          </a:prstGeom>
        </p:spPr>
      </p:pic>
      <p:sp>
        <p:nvSpPr>
          <p:cNvPr id="5" name="Text 2"/>
          <p:cNvSpPr/>
          <p:nvPr/>
        </p:nvSpPr>
        <p:spPr>
          <a:xfrm>
            <a:off x="0" y="4343400"/>
            <a:ext cx="12191695" cy="640080"/>
          </a:xfrm>
          <a:prstGeom prst="rect">
            <a:avLst/>
          </a:prstGeom>
          <a:noFill/>
          <a:ln/>
        </p:spPr>
        <p:txBody>
          <a:bodyPr wrap="square" rtlCol="0" anchor="ctr"/>
          <a:lstStyle/>
          <a:p>
            <a:pPr algn="ctr" indent="0" marL="0">
              <a:buNone/>
            </a:pPr>
            <a:r>
              <a:rPr lang="en-US" sz="4000" b="1" dirty="0">
                <a:solidFill>
                  <a:srgbClr val="FFFFFF"/>
                </a:solidFill>
                <a:latin typeface="Century Schoolbook" pitchFamily="34" charset="0"/>
                <a:ea typeface="Century Schoolbook" pitchFamily="34" charset="-122"/>
                <a:cs typeface="Century Schoolbook" pitchFamily="34" charset="-120"/>
              </a:rPr>
              <a:t>Live Demo</a:t>
            </a:r>
            <a:endParaRPr lang="en-US" sz="4000" dirty="0"/>
          </a:p>
        </p:txBody>
      </p:sp>
      <p:sp>
        <p:nvSpPr>
          <p:cNvPr id="6" name="Text 3"/>
          <p:cNvSpPr/>
          <p:nvPr/>
        </p:nvSpPr>
        <p:spPr>
          <a:xfrm>
            <a:off x="0" y="5074920"/>
            <a:ext cx="12191695" cy="457200"/>
          </a:xfrm>
          <a:prstGeom prst="rect">
            <a:avLst/>
          </a:prstGeom>
          <a:noFill/>
          <a:ln/>
        </p:spPr>
        <p:txBody>
          <a:bodyPr wrap="square" rtlCol="0" anchor="ctr"/>
          <a:lstStyle/>
          <a:p>
            <a:pPr algn="ctr" indent="0" marL="0">
              <a:buNone/>
            </a:pPr>
            <a:r>
              <a:rPr lang="en-US" sz="1800" dirty="0">
                <a:solidFill>
                  <a:srgbClr val="DCEEEC"/>
                </a:solidFill>
                <a:latin typeface="Calibri" pitchFamily="34" charset="0"/>
                <a:ea typeface="Calibri" pitchFamily="34" charset="-122"/>
                <a:cs typeface="Calibri" pitchFamily="34" charset="-120"/>
              </a:rPr>
              <a:t>2:30 — the full loop, one real restaurant.</a:t>
            </a:r>
            <a:endParaRPr lang="en-US" sz="1800" dirty="0"/>
          </a:p>
        </p:txBody>
      </p:sp>
      <p:sp>
        <p:nvSpPr>
          <p:cNvPr id="7" name="Text 4"/>
          <p:cNvSpPr/>
          <p:nvPr/>
        </p:nvSpPr>
        <p:spPr>
          <a:xfrm>
            <a:off x="1828800" y="5669280"/>
            <a:ext cx="8534095" cy="457200"/>
          </a:xfrm>
          <a:prstGeom prst="rect">
            <a:avLst/>
          </a:prstGeom>
          <a:noFill/>
          <a:ln/>
        </p:spPr>
        <p:txBody>
          <a:bodyPr wrap="square" rtlCol="0" anchor="ctr"/>
          <a:lstStyle/>
          <a:p>
            <a:pPr algn="ctr" indent="0" marL="0">
              <a:buNone/>
            </a:pPr>
            <a:r>
              <a:rPr lang="en-US" sz="1400" i="1" dirty="0">
                <a:solidFill>
                  <a:srgbClr val="AFCBC8"/>
                </a:solidFill>
                <a:latin typeface="Calibri" pitchFamily="34" charset="0"/>
                <a:ea typeface="Calibri" pitchFamily="34" charset="-122"/>
                <a:cs typeface="Calibri" pitchFamily="34" charset="-120"/>
              </a:rPr>
              <a:t>"Watch it move from complaint → inspection → new grade → owner's fix — in real time."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indent="0" marL="0">
              <a:buNone/>
            </a:pPr>
            <a:r>
              <a:rPr lang="en-US" sz="3600" b="1" dirty="0">
                <a:solidFill>
                  <a:srgbClr val="14323B"/>
                </a:solidFill>
                <a:latin typeface="Century Schoolbook" pitchFamily="34" charset="0"/>
                <a:ea typeface="Century Schoolbook" pitchFamily="34" charset="-122"/>
                <a:cs typeface="Century Schoolbook" pitchFamily="34" charset="-120"/>
              </a:rPr>
              <a:t>The Engine: Smart Risk Score</a:t>
            </a:r>
            <a:endParaRPr lang="en-US" sz="3600" dirty="0"/>
          </a:p>
        </p:txBody>
      </p:sp>
      <p:sp>
        <p:nvSpPr>
          <p:cNvPr id="3" name="Text 1"/>
          <p:cNvSpPr/>
          <p:nvPr/>
        </p:nvSpPr>
        <p:spPr>
          <a:xfrm>
            <a:off x="658368" y="1188720"/>
            <a:ext cx="10789920" cy="457200"/>
          </a:xfrm>
          <a:prstGeom prst="rect">
            <a:avLst/>
          </a:prstGeom>
          <a:noFill/>
          <a:ln/>
        </p:spPr>
        <p:txBody>
          <a:bodyPr wrap="square" rtlCol="0" anchor="ctr"/>
          <a:lstStyle/>
          <a:p>
            <a:pPr indent="0" marL="0">
              <a:buNone/>
            </a:pPr>
            <a:r>
              <a:rPr lang="en-US" sz="1700" b="1" dirty="0">
                <a:solidFill>
                  <a:srgbClr val="1C2B31"/>
                </a:solidFill>
                <a:latin typeface="Calibri" pitchFamily="34" charset="0"/>
                <a:ea typeface="Calibri" pitchFamily="34" charset="-122"/>
                <a:cs typeface="Calibri" pitchFamily="34" charset="-120"/>
              </a:rPr>
              <a:t>Explainable by design — </a:t>
            </a:r>
            <a:pPr indent="0" marL="0">
              <a:buNone/>
            </a:pPr>
            <a:r>
              <a:rPr lang="en-US" sz="1700" dirty="0">
                <a:solidFill>
                  <a:srgbClr val="5E7178"/>
                </a:solidFill>
                <a:latin typeface="Calibri" pitchFamily="34" charset="0"/>
                <a:ea typeface="Calibri" pitchFamily="34" charset="-122"/>
                <a:cs typeface="Calibri" pitchFamily="34" charset="-120"/>
              </a:rPr>
              <a:t>a transparent weighted formula, not a black-box model.</a:t>
            </a:r>
            <a:endParaRPr lang="en-US" sz="1700" dirty="0"/>
          </a:p>
        </p:txBody>
      </p:sp>
      <p:sp>
        <p:nvSpPr>
          <p:cNvPr id="4" name="Text 2"/>
          <p:cNvSpPr/>
          <p:nvPr/>
        </p:nvSpPr>
        <p:spPr>
          <a:xfrm>
            <a:off x="640080" y="1965960"/>
            <a:ext cx="3566160" cy="457200"/>
          </a:xfrm>
          <a:prstGeom prst="rect">
            <a:avLst/>
          </a:prstGeom>
          <a:noFill/>
          <a:ln/>
        </p:spPr>
        <p:txBody>
          <a:bodyPr wrap="square" rtlCol="0" anchor="ctr"/>
          <a:lstStyle/>
          <a:p>
            <a:pPr algn="l" indent="0" marL="0">
              <a:buNone/>
            </a:pPr>
            <a:r>
              <a:rPr lang="en-US" sz="1500" b="1" dirty="0">
                <a:solidFill>
                  <a:srgbClr val="1C2B31"/>
                </a:solidFill>
                <a:latin typeface="Calibri" pitchFamily="34" charset="0"/>
                <a:ea typeface="Calibri" pitchFamily="34" charset="-122"/>
                <a:cs typeface="Calibri" pitchFamily="34" charset="-120"/>
              </a:rPr>
              <a:t>Past violations</a:t>
            </a:r>
            <a:endParaRPr lang="en-US" sz="1500" dirty="0"/>
          </a:p>
        </p:txBody>
      </p:sp>
      <p:sp>
        <p:nvSpPr>
          <p:cNvPr id="5" name="Shape 3"/>
          <p:cNvSpPr/>
          <p:nvPr/>
        </p:nvSpPr>
        <p:spPr>
          <a:xfrm>
            <a:off x="4297680" y="2020824"/>
            <a:ext cx="5486400" cy="384048"/>
          </a:xfrm>
          <a:prstGeom prst="roundRect">
            <a:avLst>
              <a:gd name="adj" fmla="val 19048"/>
            </a:avLst>
          </a:prstGeom>
          <a:solidFill>
            <a:srgbClr val="F4F7F6"/>
          </a:solidFill>
          <a:ln/>
        </p:spPr>
      </p:sp>
      <p:sp>
        <p:nvSpPr>
          <p:cNvPr id="6" name="Shape 4"/>
          <p:cNvSpPr/>
          <p:nvPr/>
        </p:nvSpPr>
        <p:spPr>
          <a:xfrm>
            <a:off x="4297680" y="2020824"/>
            <a:ext cx="5486400" cy="384048"/>
          </a:xfrm>
          <a:prstGeom prst="roundRect">
            <a:avLst>
              <a:gd name="adj" fmla="val 19048"/>
            </a:avLst>
          </a:prstGeom>
          <a:solidFill>
            <a:srgbClr val="0B7A75"/>
          </a:solidFill>
          <a:ln/>
        </p:spPr>
      </p:sp>
      <p:sp>
        <p:nvSpPr>
          <p:cNvPr id="7" name="Text 5"/>
          <p:cNvSpPr/>
          <p:nvPr/>
        </p:nvSpPr>
        <p:spPr>
          <a:xfrm>
            <a:off x="9921240" y="1965960"/>
            <a:ext cx="822960" cy="457200"/>
          </a:xfrm>
          <a:prstGeom prst="rect">
            <a:avLst/>
          </a:prstGeom>
          <a:noFill/>
          <a:ln/>
        </p:spPr>
        <p:txBody>
          <a:bodyPr wrap="square" rtlCol="0" anchor="ctr"/>
          <a:lstStyle/>
          <a:p>
            <a:pPr indent="0" marL="0">
              <a:buNone/>
            </a:pPr>
            <a:r>
              <a:rPr lang="en-US" sz="1800" b="1" dirty="0">
                <a:solidFill>
                  <a:srgbClr val="0B7A75"/>
                </a:solidFill>
                <a:latin typeface="Century Schoolbook" pitchFamily="34" charset="0"/>
                <a:ea typeface="Century Schoolbook" pitchFamily="34" charset="-122"/>
                <a:cs typeface="Century Schoolbook" pitchFamily="34" charset="-120"/>
              </a:rPr>
              <a:t>40%</a:t>
            </a:r>
            <a:endParaRPr lang="en-US" sz="1800" dirty="0"/>
          </a:p>
        </p:txBody>
      </p:sp>
      <p:sp>
        <p:nvSpPr>
          <p:cNvPr id="8" name="Text 6"/>
          <p:cNvSpPr/>
          <p:nvPr/>
        </p:nvSpPr>
        <p:spPr>
          <a:xfrm>
            <a:off x="640080" y="2532888"/>
            <a:ext cx="3566160" cy="457200"/>
          </a:xfrm>
          <a:prstGeom prst="rect">
            <a:avLst/>
          </a:prstGeom>
          <a:noFill/>
          <a:ln/>
        </p:spPr>
        <p:txBody>
          <a:bodyPr wrap="square" rtlCol="0" anchor="ctr"/>
          <a:lstStyle/>
          <a:p>
            <a:pPr algn="l" indent="0" marL="0">
              <a:buNone/>
            </a:pPr>
            <a:r>
              <a:rPr lang="en-US" sz="1500" b="1" dirty="0">
                <a:solidFill>
                  <a:srgbClr val="1C2B31"/>
                </a:solidFill>
                <a:latin typeface="Calibri" pitchFamily="34" charset="0"/>
                <a:ea typeface="Calibri" pitchFamily="34" charset="-122"/>
                <a:cs typeface="Calibri" pitchFamily="34" charset="-120"/>
              </a:rPr>
              <a:t>Citizen complaint pressure</a:t>
            </a:r>
            <a:endParaRPr lang="en-US" sz="1500" dirty="0"/>
          </a:p>
        </p:txBody>
      </p:sp>
      <p:sp>
        <p:nvSpPr>
          <p:cNvPr id="9" name="Shape 7"/>
          <p:cNvSpPr/>
          <p:nvPr/>
        </p:nvSpPr>
        <p:spPr>
          <a:xfrm>
            <a:off x="4297680" y="2587752"/>
            <a:ext cx="5486400" cy="384048"/>
          </a:xfrm>
          <a:prstGeom prst="roundRect">
            <a:avLst>
              <a:gd name="adj" fmla="val 19048"/>
            </a:avLst>
          </a:prstGeom>
          <a:solidFill>
            <a:srgbClr val="F4F7F6"/>
          </a:solidFill>
          <a:ln/>
        </p:spPr>
      </p:sp>
      <p:sp>
        <p:nvSpPr>
          <p:cNvPr id="10" name="Shape 8"/>
          <p:cNvSpPr/>
          <p:nvPr/>
        </p:nvSpPr>
        <p:spPr>
          <a:xfrm>
            <a:off x="4297680" y="2587752"/>
            <a:ext cx="4114800" cy="384048"/>
          </a:xfrm>
          <a:prstGeom prst="roundRect">
            <a:avLst>
              <a:gd name="adj" fmla="val 19048"/>
            </a:avLst>
          </a:prstGeom>
          <a:solidFill>
            <a:srgbClr val="E8A33D"/>
          </a:solidFill>
          <a:ln/>
        </p:spPr>
      </p:sp>
      <p:sp>
        <p:nvSpPr>
          <p:cNvPr id="11" name="Text 9"/>
          <p:cNvSpPr/>
          <p:nvPr/>
        </p:nvSpPr>
        <p:spPr>
          <a:xfrm>
            <a:off x="9921240" y="2532888"/>
            <a:ext cx="822960" cy="457200"/>
          </a:xfrm>
          <a:prstGeom prst="rect">
            <a:avLst/>
          </a:prstGeom>
          <a:noFill/>
          <a:ln/>
        </p:spPr>
        <p:txBody>
          <a:bodyPr wrap="square" rtlCol="0" anchor="ctr"/>
          <a:lstStyle/>
          <a:p>
            <a:pPr indent="0" marL="0">
              <a:buNone/>
            </a:pPr>
            <a:r>
              <a:rPr lang="en-US" sz="1800" b="1" dirty="0">
                <a:solidFill>
                  <a:srgbClr val="E8A33D"/>
                </a:solidFill>
                <a:latin typeface="Century Schoolbook" pitchFamily="34" charset="0"/>
                <a:ea typeface="Century Schoolbook" pitchFamily="34" charset="-122"/>
                <a:cs typeface="Century Schoolbook" pitchFamily="34" charset="-120"/>
              </a:rPr>
              <a:t>30%</a:t>
            </a:r>
            <a:endParaRPr lang="en-US" sz="1800" dirty="0"/>
          </a:p>
        </p:txBody>
      </p:sp>
      <p:sp>
        <p:nvSpPr>
          <p:cNvPr id="12" name="Text 10"/>
          <p:cNvSpPr/>
          <p:nvPr/>
        </p:nvSpPr>
        <p:spPr>
          <a:xfrm>
            <a:off x="640080" y="3099816"/>
            <a:ext cx="3566160" cy="457200"/>
          </a:xfrm>
          <a:prstGeom prst="rect">
            <a:avLst/>
          </a:prstGeom>
          <a:noFill/>
          <a:ln/>
        </p:spPr>
        <p:txBody>
          <a:bodyPr wrap="square" rtlCol="0" anchor="ctr"/>
          <a:lstStyle/>
          <a:p>
            <a:pPr algn="l" indent="0" marL="0">
              <a:buNone/>
            </a:pPr>
            <a:r>
              <a:rPr lang="en-US" sz="1500" b="1" dirty="0">
                <a:solidFill>
                  <a:srgbClr val="1C2B31"/>
                </a:solidFill>
                <a:latin typeface="Calibri" pitchFamily="34" charset="0"/>
                <a:ea typeface="Calibri" pitchFamily="34" charset="-122"/>
                <a:cs typeface="Calibri" pitchFamily="34" charset="-120"/>
              </a:rPr>
              <a:t>Time since last inspection</a:t>
            </a:r>
            <a:endParaRPr lang="en-US" sz="1500" dirty="0"/>
          </a:p>
        </p:txBody>
      </p:sp>
      <p:sp>
        <p:nvSpPr>
          <p:cNvPr id="13" name="Shape 11"/>
          <p:cNvSpPr/>
          <p:nvPr/>
        </p:nvSpPr>
        <p:spPr>
          <a:xfrm>
            <a:off x="4297680" y="3154680"/>
            <a:ext cx="5486400" cy="384048"/>
          </a:xfrm>
          <a:prstGeom prst="roundRect">
            <a:avLst>
              <a:gd name="adj" fmla="val 19048"/>
            </a:avLst>
          </a:prstGeom>
          <a:solidFill>
            <a:srgbClr val="F4F7F6"/>
          </a:solidFill>
          <a:ln/>
        </p:spPr>
      </p:sp>
      <p:sp>
        <p:nvSpPr>
          <p:cNvPr id="14" name="Shape 12"/>
          <p:cNvSpPr/>
          <p:nvPr/>
        </p:nvSpPr>
        <p:spPr>
          <a:xfrm>
            <a:off x="4297680" y="3154680"/>
            <a:ext cx="2743200" cy="384048"/>
          </a:xfrm>
          <a:prstGeom prst="roundRect">
            <a:avLst>
              <a:gd name="adj" fmla="val 19048"/>
            </a:avLst>
          </a:prstGeom>
          <a:solidFill>
            <a:srgbClr val="3E8C86"/>
          </a:solidFill>
          <a:ln/>
        </p:spPr>
      </p:sp>
      <p:sp>
        <p:nvSpPr>
          <p:cNvPr id="15" name="Text 13"/>
          <p:cNvSpPr/>
          <p:nvPr/>
        </p:nvSpPr>
        <p:spPr>
          <a:xfrm>
            <a:off x="9921240" y="3099816"/>
            <a:ext cx="822960" cy="457200"/>
          </a:xfrm>
          <a:prstGeom prst="rect">
            <a:avLst/>
          </a:prstGeom>
          <a:noFill/>
          <a:ln/>
        </p:spPr>
        <p:txBody>
          <a:bodyPr wrap="square" rtlCol="0" anchor="ctr"/>
          <a:lstStyle/>
          <a:p>
            <a:pPr indent="0" marL="0">
              <a:buNone/>
            </a:pPr>
            <a:r>
              <a:rPr lang="en-US" sz="1800" b="1" dirty="0">
                <a:solidFill>
                  <a:srgbClr val="3E8C86"/>
                </a:solidFill>
                <a:latin typeface="Century Schoolbook" pitchFamily="34" charset="0"/>
                <a:ea typeface="Century Schoolbook" pitchFamily="34" charset="-122"/>
                <a:cs typeface="Century Schoolbook" pitchFamily="34" charset="-120"/>
              </a:rPr>
              <a:t>20%</a:t>
            </a:r>
            <a:endParaRPr lang="en-US" sz="1800" dirty="0"/>
          </a:p>
        </p:txBody>
      </p:sp>
      <p:sp>
        <p:nvSpPr>
          <p:cNvPr id="16" name="Text 14"/>
          <p:cNvSpPr/>
          <p:nvPr/>
        </p:nvSpPr>
        <p:spPr>
          <a:xfrm>
            <a:off x="640080" y="3666744"/>
            <a:ext cx="3566160" cy="457200"/>
          </a:xfrm>
          <a:prstGeom prst="rect">
            <a:avLst/>
          </a:prstGeom>
          <a:noFill/>
          <a:ln/>
        </p:spPr>
        <p:txBody>
          <a:bodyPr wrap="square" rtlCol="0" anchor="ctr"/>
          <a:lstStyle/>
          <a:p>
            <a:pPr algn="l" indent="0" marL="0">
              <a:buNone/>
            </a:pPr>
            <a:r>
              <a:rPr lang="en-US" sz="1500" b="1" dirty="0">
                <a:solidFill>
                  <a:srgbClr val="1C2B31"/>
                </a:solidFill>
                <a:latin typeface="Calibri" pitchFamily="34" charset="0"/>
                <a:ea typeface="Calibri" pitchFamily="34" charset="-122"/>
                <a:cs typeface="Calibri" pitchFamily="34" charset="-120"/>
              </a:rPr>
              <a:t>Venue category risk</a:t>
            </a:r>
            <a:endParaRPr lang="en-US" sz="1500" dirty="0"/>
          </a:p>
        </p:txBody>
      </p:sp>
      <p:sp>
        <p:nvSpPr>
          <p:cNvPr id="17" name="Shape 15"/>
          <p:cNvSpPr/>
          <p:nvPr/>
        </p:nvSpPr>
        <p:spPr>
          <a:xfrm>
            <a:off x="4297680" y="3721608"/>
            <a:ext cx="5486400" cy="384048"/>
          </a:xfrm>
          <a:prstGeom prst="roundRect">
            <a:avLst>
              <a:gd name="adj" fmla="val 19048"/>
            </a:avLst>
          </a:prstGeom>
          <a:solidFill>
            <a:srgbClr val="F4F7F6"/>
          </a:solidFill>
          <a:ln/>
        </p:spPr>
      </p:sp>
      <p:sp>
        <p:nvSpPr>
          <p:cNvPr id="18" name="Shape 16"/>
          <p:cNvSpPr/>
          <p:nvPr/>
        </p:nvSpPr>
        <p:spPr>
          <a:xfrm>
            <a:off x="4297680" y="3721608"/>
            <a:ext cx="1371600" cy="384048"/>
          </a:xfrm>
          <a:prstGeom prst="roundRect">
            <a:avLst>
              <a:gd name="adj" fmla="val 19048"/>
            </a:avLst>
          </a:prstGeom>
          <a:solidFill>
            <a:srgbClr val="5E7178"/>
          </a:solidFill>
          <a:ln/>
        </p:spPr>
      </p:sp>
      <p:sp>
        <p:nvSpPr>
          <p:cNvPr id="19" name="Text 17"/>
          <p:cNvSpPr/>
          <p:nvPr/>
        </p:nvSpPr>
        <p:spPr>
          <a:xfrm>
            <a:off x="9921240" y="3666744"/>
            <a:ext cx="822960" cy="457200"/>
          </a:xfrm>
          <a:prstGeom prst="rect">
            <a:avLst/>
          </a:prstGeom>
          <a:noFill/>
          <a:ln/>
        </p:spPr>
        <p:txBody>
          <a:bodyPr wrap="square" rtlCol="0" anchor="ctr"/>
          <a:lstStyle/>
          <a:p>
            <a:pPr indent="0" marL="0">
              <a:buNone/>
            </a:pPr>
            <a:r>
              <a:rPr lang="en-US" sz="1800" b="1" dirty="0">
                <a:solidFill>
                  <a:srgbClr val="5E7178"/>
                </a:solidFill>
                <a:latin typeface="Century Schoolbook" pitchFamily="34" charset="0"/>
                <a:ea typeface="Century Schoolbook" pitchFamily="34" charset="-122"/>
                <a:cs typeface="Century Schoolbook" pitchFamily="34" charset="-120"/>
              </a:rPr>
              <a:t>10%</a:t>
            </a:r>
            <a:endParaRPr lang="en-US" sz="1800" dirty="0"/>
          </a:p>
        </p:txBody>
      </p:sp>
      <p:sp>
        <p:nvSpPr>
          <p:cNvPr id="20" name="Shape 18"/>
          <p:cNvSpPr/>
          <p:nvPr/>
        </p:nvSpPr>
        <p:spPr>
          <a:xfrm>
            <a:off x="640080" y="4526280"/>
            <a:ext cx="10881360" cy="1572768"/>
          </a:xfrm>
          <a:prstGeom prst="roundRect">
            <a:avLst>
              <a:gd name="adj" fmla="val 6977"/>
            </a:avLst>
          </a:prstGeom>
          <a:solidFill>
            <a:srgbClr val="D8ECEA"/>
          </a:solidFill>
          <a:ln/>
        </p:spPr>
      </p:sp>
      <p:sp>
        <p:nvSpPr>
          <p:cNvPr id="21" name="Shape 19"/>
          <p:cNvSpPr/>
          <p:nvPr/>
        </p:nvSpPr>
        <p:spPr>
          <a:xfrm>
            <a:off x="914400" y="4754880"/>
            <a:ext cx="1097280" cy="1097280"/>
          </a:xfrm>
          <a:prstGeom prst="ellipse">
            <a:avLst/>
          </a:prstGeom>
          <a:solidFill>
            <a:srgbClr val="0B7A75"/>
          </a:solidFill>
          <a:ln/>
        </p:spPr>
      </p:sp>
      <p:pic>
        <p:nvPicPr>
          <p:cNvPr id="22" name="Image 0" descr="icons/scale_white.png">    </p:cNvPr>
          <p:cNvPicPr>
            <a:picLocks noChangeAspect="1"/>
          </p:cNvPicPr>
          <p:nvPr/>
        </p:nvPicPr>
        <p:blipFill>
          <a:blip r:embed="rId1"/>
          <a:stretch>
            <a:fillRect/>
          </a:stretch>
        </p:blipFill>
        <p:spPr>
          <a:xfrm>
            <a:off x="1199693" y="5040173"/>
            <a:ext cx="526694" cy="526694"/>
          </a:xfrm>
          <a:prstGeom prst="rect">
            <a:avLst/>
          </a:prstGeom>
        </p:spPr>
      </p:pic>
      <p:sp>
        <p:nvSpPr>
          <p:cNvPr id="23" name="Text 20"/>
          <p:cNvSpPr/>
          <p:nvPr/>
        </p:nvSpPr>
        <p:spPr>
          <a:xfrm>
            <a:off x="2286000" y="4663440"/>
            <a:ext cx="9052560" cy="1371600"/>
          </a:xfrm>
          <a:prstGeom prst="rect">
            <a:avLst/>
          </a:prstGeom>
          <a:noFill/>
          <a:ln/>
        </p:spPr>
        <p:txBody>
          <a:bodyPr wrap="square" rtlCol="0" anchor="ctr"/>
          <a:lstStyle/>
          <a:p>
            <a:pPr indent="0" marL="0">
              <a:lnSpc>
                <a:spcPct val="108000"/>
              </a:lnSpc>
              <a:buNone/>
            </a:pPr>
            <a:r>
              <a:rPr lang="en-US" sz="1650" b="1" dirty="0">
                <a:solidFill>
                  <a:srgbClr val="14323B"/>
                </a:solidFill>
                <a:latin typeface="Calibri" pitchFamily="34" charset="0"/>
                <a:ea typeface="Calibri" pitchFamily="34" charset="-122"/>
                <a:cs typeface="Calibri" pitchFamily="34" charset="-120"/>
              </a:rPr>
              <a:t>Why a formula, not AI?  </a:t>
            </a:r>
            <a:pPr indent="0" marL="0">
              <a:lnSpc>
                <a:spcPct val="108000"/>
              </a:lnSpc>
              <a:buNone/>
            </a:pPr>
            <a:r>
              <a:rPr lang="en-US" sz="1400" dirty="0">
                <a:solidFill>
                  <a:srgbClr val="1C2B31"/>
                </a:solidFill>
                <a:latin typeface="Calibri" pitchFamily="34" charset="0"/>
                <a:ea typeface="Calibri" pitchFamily="34" charset="-122"/>
                <a:cs typeface="Calibri" pitchFamily="34" charset="-120"/>
              </a:rPr>
              <a:t>Think back to the inspector who visited at random. Aman computes a </a:t>
            </a:r>
            <a:pPr indent="0" marL="0">
              <a:lnSpc>
                <a:spcPct val="108000"/>
              </a:lnSpc>
              <a:buNone/>
            </a:pPr>
            <a:r>
              <a:rPr lang="en-US" sz="1400" b="1" dirty="0">
                <a:solidFill>
                  <a:srgbClr val="0B7A75"/>
                </a:solidFill>
                <a:latin typeface="Calibri" pitchFamily="34" charset="0"/>
                <a:ea typeface="Calibri" pitchFamily="34" charset="-122"/>
                <a:cs typeface="Calibri" pitchFamily="34" charset="-120"/>
              </a:rPr>
              <a:t>risk score</a:t>
            </a:r>
            <a:pPr indent="0" marL="0">
              <a:lnSpc>
                <a:spcPct val="108000"/>
              </a:lnSpc>
              <a:buNone/>
            </a:pPr>
            <a:r>
              <a:rPr lang="en-US" sz="1400" dirty="0">
                <a:solidFill>
                  <a:srgbClr val="1C2B31"/>
                </a:solidFill>
                <a:latin typeface="Calibri" pitchFamily="34" charset="0"/>
                <a:ea typeface="Calibri" pitchFamily="34" charset="-122"/>
                <a:cs typeface="Calibri" pitchFamily="34" charset="-120"/>
              </a:rPr>
              <a:t> that ranks venues in the queue, from four weighted factors. We made it a transparent formula on purpose — not a closed AI system that gives a number without explaining where it came from — because the inspector must explain </a:t>
            </a:r>
            <a:pPr indent="0" marL="0">
              <a:lnSpc>
                <a:spcPct val="108000"/>
              </a:lnSpc>
              <a:buNone/>
            </a:pPr>
            <a:r>
              <a:rPr lang="en-US" sz="1400" b="1" i="1" dirty="0">
                <a:solidFill>
                  <a:srgbClr val="0B7A75"/>
                </a:solidFill>
                <a:latin typeface="Calibri" pitchFamily="34" charset="0"/>
                <a:ea typeface="Calibri" pitchFamily="34" charset="-122"/>
                <a:cs typeface="Calibri" pitchFamily="34" charset="-120"/>
              </a:rPr>
              <a:t>why</a:t>
            </a:r>
            <a:pPr indent="0" marL="0">
              <a:lnSpc>
                <a:spcPct val="108000"/>
              </a:lnSpc>
              <a:buNone/>
            </a:pPr>
            <a:r>
              <a:rPr lang="en-US" sz="1400" dirty="0">
                <a:solidFill>
                  <a:srgbClr val="1C2B31"/>
                </a:solidFill>
                <a:latin typeface="Calibri" pitchFamily="34" charset="0"/>
                <a:ea typeface="Calibri" pitchFamily="34" charset="-122"/>
                <a:cs typeface="Calibri" pitchFamily="34" charset="-120"/>
              </a:rPr>
              <a:t> to an owner, and the owner must be able to challenge it. Every number traces to a specific violation, complaint, or day count. A documented complaint (photo/receipt) weighs 3× — so a handful of fake complaints can't game the system.</a:t>
            </a:r>
            <a:endParaRPr lang="en-US" sz="1650" dirty="0"/>
          </a:p>
        </p:txBody>
      </p:sp>
      <p:sp>
        <p:nvSpPr>
          <p:cNvPr id="24" name="Shape 21"/>
          <p:cNvSpPr/>
          <p:nvPr/>
        </p:nvSpPr>
        <p:spPr>
          <a:xfrm>
            <a:off x="640080" y="6236208"/>
            <a:ext cx="10881360" cy="457200"/>
          </a:xfrm>
          <a:prstGeom prst="roundRect">
            <a:avLst>
              <a:gd name="adj" fmla="val 20000"/>
            </a:avLst>
          </a:prstGeom>
          <a:solidFill>
            <a:srgbClr val="FFFFFF"/>
          </a:solidFill>
          <a:ln w="12700">
            <a:solidFill>
              <a:srgbClr val="0B7A75"/>
            </a:solidFill>
            <a:prstDash val="solid"/>
          </a:ln>
        </p:spPr>
      </p:sp>
      <p:sp>
        <p:nvSpPr>
          <p:cNvPr id="25" name="Shape 22"/>
          <p:cNvSpPr/>
          <p:nvPr/>
        </p:nvSpPr>
        <p:spPr>
          <a:xfrm>
            <a:off x="804672" y="6309360"/>
            <a:ext cx="310896" cy="310896"/>
          </a:xfrm>
          <a:prstGeom prst="ellipse">
            <a:avLst/>
          </a:prstGeom>
          <a:solidFill>
            <a:srgbClr val="0B7A75"/>
          </a:solidFill>
          <a:ln/>
        </p:spPr>
      </p:sp>
      <p:pic>
        <p:nvPicPr>
          <p:cNvPr id="26" name="Image 1" descr="icons/check_white.png">    </p:cNvPr>
          <p:cNvPicPr>
            <a:picLocks noChangeAspect="1"/>
          </p:cNvPicPr>
          <p:nvPr/>
        </p:nvPicPr>
        <p:blipFill>
          <a:blip r:embed="rId2"/>
          <a:stretch>
            <a:fillRect/>
          </a:stretch>
        </p:blipFill>
        <p:spPr>
          <a:xfrm>
            <a:off x="885505" y="6390193"/>
            <a:ext cx="149230" cy="149230"/>
          </a:xfrm>
          <a:prstGeom prst="rect">
            <a:avLst/>
          </a:prstGeom>
        </p:spPr>
      </p:pic>
      <p:sp>
        <p:nvSpPr>
          <p:cNvPr id="27" name="Text 23"/>
          <p:cNvSpPr/>
          <p:nvPr/>
        </p:nvSpPr>
        <p:spPr>
          <a:xfrm>
            <a:off x="1261872" y="6236208"/>
            <a:ext cx="10149840" cy="457200"/>
          </a:xfrm>
          <a:prstGeom prst="rect">
            <a:avLst/>
          </a:prstGeom>
          <a:noFill/>
          <a:ln/>
        </p:spPr>
        <p:txBody>
          <a:bodyPr wrap="square" rtlCol="0" anchor="ctr"/>
          <a:lstStyle/>
          <a:p>
            <a:pPr indent="0" marL="0">
              <a:buNone/>
            </a:pPr>
            <a:r>
              <a:rPr lang="en-US" sz="1250" b="1" dirty="0">
                <a:solidFill>
                  <a:srgbClr val="0B7A75"/>
                </a:solidFill>
                <a:latin typeface="Calibri" pitchFamily="34" charset="0"/>
                <a:ea typeface="Calibri" pitchFamily="34" charset="-122"/>
                <a:cs typeface="Calibri" pitchFamily="34" charset="-120"/>
              </a:rPr>
              <a:t>Proven elsewhere:  </a:t>
            </a:r>
            <a:pPr indent="0" marL="0">
              <a:buNone/>
            </a:pPr>
            <a:r>
              <a:rPr lang="en-US" sz="1250" dirty="0">
                <a:solidFill>
                  <a:srgbClr val="1C2B31"/>
                </a:solidFill>
                <a:latin typeface="Calibri" pitchFamily="34" charset="0"/>
                <a:ea typeface="Calibri" pitchFamily="34" charset="-122"/>
                <a:cs typeface="Calibri" pitchFamily="34" charset="-120"/>
              </a:rPr>
              <a:t>Chicago runs the same logic — a predictive risk model that caught violations </a:t>
            </a:r>
            <a:pPr indent="0" marL="0">
              <a:buNone/>
            </a:pPr>
            <a:r>
              <a:rPr lang="en-US" sz="1250" b="1" dirty="0">
                <a:solidFill>
                  <a:srgbClr val="14323B"/>
                </a:solidFill>
                <a:latin typeface="Calibri" pitchFamily="34" charset="0"/>
                <a:ea typeface="Calibri" pitchFamily="34" charset="-122"/>
                <a:cs typeface="Calibri" pitchFamily="34" charset="-120"/>
              </a:rPr>
              <a:t>7 days earlier</a:t>
            </a:r>
            <a:pPr indent="0" marL="0">
              <a:buNone/>
            </a:pPr>
            <a:r>
              <a:rPr lang="en-US" sz="1250" dirty="0">
                <a:solidFill>
                  <a:srgbClr val="1C2B31"/>
                </a:solidFill>
                <a:latin typeface="Calibri" pitchFamily="34" charset="0"/>
                <a:ea typeface="Calibri" pitchFamily="34" charset="-122"/>
                <a:cs typeface="Calibri" pitchFamily="34" charset="-120"/>
              </a:rPr>
              <a:t> than random inspections.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323B"/>
        </a:solidFill>
      </p:bgPr>
    </p:bg>
    <p:spTree>
      <p:nvGrpSpPr>
        <p:cNvPr id="1" name=""/>
        <p:cNvGrpSpPr/>
        <p:nvPr/>
      </p:nvGrpSpPr>
      <p:grpSpPr>
        <a:xfrm>
          <a:off x="0" y="0"/>
          <a:ext cx="0" cy="0"/>
          <a:chOff x="0" y="0"/>
          <a:chExt cx="0" cy="0"/>
        </a:xfrm>
      </p:grpSpPr>
      <p:sp>
        <p:nvSpPr>
          <p:cNvPr id="2" name="Text 0"/>
          <p:cNvSpPr/>
          <p:nvPr/>
        </p:nvSpPr>
        <p:spPr>
          <a:xfrm>
            <a:off x="640080" y="594360"/>
            <a:ext cx="10972800" cy="822960"/>
          </a:xfrm>
          <a:prstGeom prst="rect">
            <a:avLst/>
          </a:prstGeom>
          <a:noFill/>
          <a:ln/>
        </p:spPr>
        <p:txBody>
          <a:bodyPr wrap="square" rtlCol="0" anchor="ctr"/>
          <a:lstStyle/>
          <a:p>
            <a:pPr indent="0" marL="0">
              <a:buNone/>
            </a:pPr>
            <a:r>
              <a:rPr lang="en-US" sz="3300" b="1" dirty="0">
                <a:solidFill>
                  <a:srgbClr val="FFFFFF"/>
                </a:solidFill>
                <a:latin typeface="Century Schoolbook" pitchFamily="34" charset="0"/>
                <a:ea typeface="Century Schoolbook" pitchFamily="34" charset="-122"/>
                <a:cs typeface="Century Schoolbook" pitchFamily="34" charset="-120"/>
              </a:rPr>
              <a:t>The One Rule Everything Is Built Around</a:t>
            </a:r>
            <a:endParaRPr lang="en-US" sz="3300" dirty="0"/>
          </a:p>
        </p:txBody>
      </p:sp>
      <p:sp>
        <p:nvSpPr>
          <p:cNvPr id="3" name="Shape 1"/>
          <p:cNvSpPr/>
          <p:nvPr/>
        </p:nvSpPr>
        <p:spPr>
          <a:xfrm>
            <a:off x="640080" y="1783080"/>
            <a:ext cx="10881360" cy="2286000"/>
          </a:xfrm>
          <a:prstGeom prst="roundRect">
            <a:avLst>
              <a:gd name="adj" fmla="val 5600"/>
            </a:avLst>
          </a:prstGeom>
          <a:solidFill>
            <a:srgbClr val="1B3D46"/>
          </a:solidFill>
          <a:ln w="19050">
            <a:solidFill>
              <a:srgbClr val="E8A33D"/>
            </a:solidFill>
            <a:prstDash val="solid"/>
          </a:ln>
        </p:spPr>
      </p:sp>
      <p:sp>
        <p:nvSpPr>
          <p:cNvPr id="4" name="Shape 2"/>
          <p:cNvSpPr/>
          <p:nvPr/>
        </p:nvSpPr>
        <p:spPr>
          <a:xfrm>
            <a:off x="960120" y="2148840"/>
            <a:ext cx="1005840" cy="1005840"/>
          </a:xfrm>
          <a:prstGeom prst="ellipse">
            <a:avLst/>
          </a:prstGeom>
          <a:solidFill>
            <a:srgbClr val="E8A33D"/>
          </a:solidFill>
          <a:ln/>
        </p:spPr>
      </p:sp>
      <p:pic>
        <p:nvPicPr>
          <p:cNvPr id="5" name="Image 0" descr="icons/lock_dark.png">    </p:cNvPr>
          <p:cNvPicPr>
            <a:picLocks noChangeAspect="1"/>
          </p:cNvPicPr>
          <p:nvPr/>
        </p:nvPicPr>
        <p:blipFill>
          <a:blip r:embed="rId1"/>
          <a:stretch>
            <a:fillRect/>
          </a:stretch>
        </p:blipFill>
        <p:spPr>
          <a:xfrm>
            <a:off x="1221638" y="2410358"/>
            <a:ext cx="482803" cy="482803"/>
          </a:xfrm>
          <a:prstGeom prst="rect">
            <a:avLst/>
          </a:prstGeom>
        </p:spPr>
      </p:pic>
      <p:sp>
        <p:nvSpPr>
          <p:cNvPr id="6" name="Text 3"/>
          <p:cNvSpPr/>
          <p:nvPr/>
        </p:nvSpPr>
        <p:spPr>
          <a:xfrm>
            <a:off x="2194560" y="1920240"/>
            <a:ext cx="9052560" cy="640080"/>
          </a:xfrm>
          <a:prstGeom prst="rect">
            <a:avLst/>
          </a:prstGeom>
          <a:noFill/>
          <a:ln/>
        </p:spPr>
        <p:txBody>
          <a:bodyPr wrap="square" rtlCol="0" anchor="ctr"/>
          <a:lstStyle/>
          <a:p>
            <a:pPr indent="0" marL="0">
              <a:lnSpc>
                <a:spcPct val="110000"/>
              </a:lnSpc>
              <a:buNone/>
            </a:pPr>
            <a:r>
              <a:rPr lang="en-US" sz="2000" b="1" dirty="0">
                <a:solidFill>
                  <a:srgbClr val="E8A33D"/>
                </a:solidFill>
                <a:latin typeface="Calibri" pitchFamily="34" charset="0"/>
                <a:ea typeface="Calibri" pitchFamily="34" charset="-122"/>
                <a:cs typeface="Calibri" pitchFamily="34" charset="-120"/>
              </a:rPr>
              <a:t>Only a submitted inspection can write a grade.  </a:t>
            </a:r>
            <a:pPr indent="0" marL="0">
              <a:lnSpc>
                <a:spcPct val="110000"/>
              </a:lnSpc>
              <a:buNone/>
            </a:pPr>
            <a:r>
              <a:rPr lang="en-US" sz="1600" dirty="0">
                <a:solidFill>
                  <a:srgbClr val="DCEEEC"/>
                </a:solidFill>
                <a:latin typeface="Calibri" pitchFamily="34" charset="0"/>
                <a:ea typeface="Calibri" pitchFamily="34" charset="-122"/>
                <a:cs typeface="Calibri" pitchFamily="34" charset="-120"/>
              </a:rPr>
              <a:t>Not an admin. Not even 100 complaints.</a:t>
            </a:r>
            <a:endParaRPr lang="en-US" sz="2000" dirty="0"/>
          </a:p>
        </p:txBody>
      </p:sp>
      <p:sp>
        <p:nvSpPr>
          <p:cNvPr id="7" name="Text 4"/>
          <p:cNvSpPr/>
          <p:nvPr/>
        </p:nvSpPr>
        <p:spPr>
          <a:xfrm>
            <a:off x="960120" y="3246120"/>
            <a:ext cx="10241280" cy="777240"/>
          </a:xfrm>
          <a:prstGeom prst="rect">
            <a:avLst/>
          </a:prstGeom>
          <a:noFill/>
          <a:ln/>
        </p:spPr>
        <p:txBody>
          <a:bodyPr wrap="square" rtlCol="0" anchor="t"/>
          <a:lstStyle/>
          <a:p>
            <a:pPr indent="0" marL="0">
              <a:lnSpc>
                <a:spcPct val="115000"/>
              </a:lnSpc>
              <a:buNone/>
            </a:pPr>
            <a:r>
              <a:rPr lang="en-US" sz="1350" dirty="0">
                <a:solidFill>
                  <a:srgbClr val="AFCBC8"/>
                </a:solidFill>
                <a:latin typeface="Calibri" pitchFamily="34" charset="0"/>
                <a:ea typeface="Calibri" pitchFamily="34" charset="-122"/>
                <a:cs typeface="Calibri" pitchFamily="34" charset="-120"/>
              </a:rPr>
              <a:t>Complaints can only raise a venue's priority in the queue — they can </a:t>
            </a:r>
            <a:pPr indent="0" marL="0">
              <a:lnSpc>
                <a:spcPct val="115000"/>
              </a:lnSpc>
              <a:buNone/>
            </a:pPr>
            <a:r>
              <a:rPr lang="en-US" sz="1350" b="1" i="1" dirty="0">
                <a:solidFill>
                  <a:srgbClr val="E8A33D"/>
                </a:solidFill>
                <a:latin typeface="Calibri" pitchFamily="34" charset="0"/>
                <a:ea typeface="Calibri" pitchFamily="34" charset="-122"/>
                <a:cs typeface="Calibri" pitchFamily="34" charset="-120"/>
              </a:rPr>
              <a:t>never</a:t>
            </a:r>
            <a:pPr indent="0" marL="0">
              <a:lnSpc>
                <a:spcPct val="115000"/>
              </a:lnSpc>
              <a:buNone/>
            </a:pPr>
            <a:r>
              <a:rPr lang="en-US" sz="1350" dirty="0">
                <a:solidFill>
                  <a:srgbClr val="AFCBC8"/>
                </a:solidFill>
                <a:latin typeface="Calibri" pitchFamily="34" charset="0"/>
                <a:ea typeface="Calibri" pitchFamily="34" charset="-122"/>
                <a:cs typeface="Calibri" pitchFamily="34" charset="-120"/>
              </a:rPr>
              <a:t> touch its grade. Why? Because if complaints could change the grade, a malicious complaint campaign could burn an innocent venue. The grade stays sacred — only a real inspection writes it, and every decision is stored in an append-only log no one, not even an admin, can edit or delete.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594360"/>
          </a:xfrm>
          <a:prstGeom prst="rect">
            <a:avLst/>
          </a:prstGeom>
          <a:noFill/>
          <a:ln/>
        </p:spPr>
        <p:txBody>
          <a:bodyPr wrap="square" rtlCol="0" anchor="ctr"/>
          <a:lstStyle/>
          <a:p>
            <a:pPr indent="0" marL="0">
              <a:buNone/>
            </a:pPr>
            <a:r>
              <a:rPr lang="en-US" sz="3100" b="1" dirty="0">
                <a:solidFill>
                  <a:srgbClr val="14323B"/>
                </a:solidFill>
                <a:latin typeface="Century Schoolbook" pitchFamily="34" charset="0"/>
                <a:ea typeface="Century Schoolbook" pitchFamily="34" charset="-122"/>
                <a:cs typeface="Century Schoolbook" pitchFamily="34" charset="-120"/>
              </a:rPr>
              <a:t>Legal Legitimacy — Not Improvised</a:t>
            </a:r>
            <a:endParaRPr lang="en-US" sz="3100" dirty="0"/>
          </a:p>
        </p:txBody>
      </p:sp>
      <p:sp>
        <p:nvSpPr>
          <p:cNvPr id="3" name="Text 1"/>
          <p:cNvSpPr/>
          <p:nvPr/>
        </p:nvSpPr>
        <p:spPr>
          <a:xfrm>
            <a:off x="658368" y="969264"/>
            <a:ext cx="11155680" cy="411480"/>
          </a:xfrm>
          <a:prstGeom prst="rect">
            <a:avLst/>
          </a:prstGeom>
          <a:noFill/>
          <a:ln/>
        </p:spPr>
        <p:txBody>
          <a:bodyPr wrap="square" rtlCol="0" anchor="ctr"/>
          <a:lstStyle/>
          <a:p>
            <a:pPr indent="0" marL="0">
              <a:buNone/>
            </a:pPr>
            <a:r>
              <a:rPr lang="en-US" sz="1450" dirty="0">
                <a:solidFill>
                  <a:srgbClr val="5E7178"/>
                </a:solidFill>
                <a:latin typeface="Calibri" pitchFamily="34" charset="0"/>
                <a:ea typeface="Calibri" pitchFamily="34" charset="-122"/>
                <a:cs typeface="Calibri" pitchFamily="34" charset="-120"/>
              </a:rPr>
              <a:t>Grounded in national law, staffed on the ground in Nablus, and already coordinated in practice elsewhere.</a:t>
            </a:r>
            <a:endParaRPr lang="en-US" sz="1450" dirty="0"/>
          </a:p>
        </p:txBody>
      </p:sp>
      <p:sp>
        <p:nvSpPr>
          <p:cNvPr id="4" name="Shape 2"/>
          <p:cNvSpPr/>
          <p:nvPr/>
        </p:nvSpPr>
        <p:spPr>
          <a:xfrm>
            <a:off x="640080" y="1508760"/>
            <a:ext cx="5285232" cy="2331720"/>
          </a:xfrm>
          <a:prstGeom prst="roundRect">
            <a:avLst>
              <a:gd name="adj" fmla="val 4314"/>
            </a:avLst>
          </a:prstGeom>
          <a:solidFill>
            <a:srgbClr val="F4F7F6"/>
          </a:solidFill>
          <a:ln/>
          <a:effectLst>
            <a:outerShdw sx="100000" sy="100000" kx="0" ky="0" algn="bl" rotWithShape="0" blurRad="76200" dist="25400" dir="5400000">
              <a:srgbClr val="BBBBBB">
                <a:alpha val="40000"/>
              </a:srgbClr>
            </a:outerShdw>
          </a:effectLst>
        </p:spPr>
      </p:sp>
      <p:sp>
        <p:nvSpPr>
          <p:cNvPr id="5" name="Shape 3"/>
          <p:cNvSpPr/>
          <p:nvPr/>
        </p:nvSpPr>
        <p:spPr>
          <a:xfrm>
            <a:off x="877824" y="1691640"/>
            <a:ext cx="621792" cy="621792"/>
          </a:xfrm>
          <a:prstGeom prst="ellipse">
            <a:avLst/>
          </a:prstGeom>
          <a:solidFill>
            <a:srgbClr val="0B7A75"/>
          </a:solidFill>
          <a:ln/>
        </p:spPr>
      </p:sp>
      <p:pic>
        <p:nvPicPr>
          <p:cNvPr id="6" name="Image 0" descr="icons/gavel_white.png">    </p:cNvPr>
          <p:cNvPicPr>
            <a:picLocks noChangeAspect="1"/>
          </p:cNvPicPr>
          <p:nvPr/>
        </p:nvPicPr>
        <p:blipFill>
          <a:blip r:embed="rId1"/>
          <a:stretch>
            <a:fillRect/>
          </a:stretch>
        </p:blipFill>
        <p:spPr>
          <a:xfrm>
            <a:off x="1039490" y="1853306"/>
            <a:ext cx="298460" cy="298460"/>
          </a:xfrm>
          <a:prstGeom prst="rect">
            <a:avLst/>
          </a:prstGeom>
        </p:spPr>
      </p:pic>
      <p:sp>
        <p:nvSpPr>
          <p:cNvPr id="7" name="Text 4"/>
          <p:cNvSpPr/>
          <p:nvPr/>
        </p:nvSpPr>
        <p:spPr>
          <a:xfrm>
            <a:off x="1627632" y="1691640"/>
            <a:ext cx="4096512" cy="621792"/>
          </a:xfrm>
          <a:prstGeom prst="rect">
            <a:avLst/>
          </a:prstGeom>
          <a:noFill/>
          <a:ln/>
        </p:spPr>
        <p:txBody>
          <a:bodyPr wrap="square" rtlCol="0" anchor="ctr"/>
          <a:lstStyle/>
          <a:p>
            <a:pPr indent="0" marL="0">
              <a:buNone/>
            </a:pPr>
            <a:r>
              <a:rPr lang="en-US" sz="1650" b="1" dirty="0">
                <a:solidFill>
                  <a:srgbClr val="0B7A75"/>
                </a:solidFill>
                <a:latin typeface="Century Schoolbook" pitchFamily="34" charset="0"/>
                <a:ea typeface="Century Schoolbook" pitchFamily="34" charset="-122"/>
                <a:cs typeface="Century Schoolbook" pitchFamily="34" charset="-120"/>
              </a:rPr>
              <a:t>The Law</a:t>
            </a:r>
            <a:endParaRPr lang="en-US" sz="1650" dirty="0"/>
          </a:p>
        </p:txBody>
      </p:sp>
      <p:sp>
        <p:nvSpPr>
          <p:cNvPr id="8" name="Shape 5"/>
          <p:cNvSpPr/>
          <p:nvPr/>
        </p:nvSpPr>
        <p:spPr>
          <a:xfrm>
            <a:off x="6263640" y="1508760"/>
            <a:ext cx="5285232" cy="2331720"/>
          </a:xfrm>
          <a:prstGeom prst="roundRect">
            <a:avLst>
              <a:gd name="adj" fmla="val 4314"/>
            </a:avLst>
          </a:prstGeom>
          <a:solidFill>
            <a:srgbClr val="F4F7F6"/>
          </a:solidFill>
          <a:ln/>
          <a:effectLst>
            <a:outerShdw sx="100000" sy="100000" kx="0" ky="0" algn="bl" rotWithShape="0" blurRad="76200" dist="25400" dir="5400000">
              <a:srgbClr val="BBBBBB">
                <a:alpha val="40000"/>
              </a:srgbClr>
            </a:outerShdw>
          </a:effectLst>
        </p:spPr>
      </p:sp>
      <p:sp>
        <p:nvSpPr>
          <p:cNvPr id="9" name="Shape 6"/>
          <p:cNvSpPr/>
          <p:nvPr/>
        </p:nvSpPr>
        <p:spPr>
          <a:xfrm>
            <a:off x="6501384" y="1691640"/>
            <a:ext cx="621792" cy="621792"/>
          </a:xfrm>
          <a:prstGeom prst="ellipse">
            <a:avLst/>
          </a:prstGeom>
          <a:solidFill>
            <a:srgbClr val="3E8C86"/>
          </a:solidFill>
          <a:ln/>
        </p:spPr>
      </p:sp>
      <p:pic>
        <p:nvPicPr>
          <p:cNvPr id="10" name="Image 1" descr="icons/landmark_white.png">    </p:cNvPr>
          <p:cNvPicPr>
            <a:picLocks noChangeAspect="1"/>
          </p:cNvPicPr>
          <p:nvPr/>
        </p:nvPicPr>
        <p:blipFill>
          <a:blip r:embed="rId2"/>
          <a:stretch>
            <a:fillRect/>
          </a:stretch>
        </p:blipFill>
        <p:spPr>
          <a:xfrm>
            <a:off x="6663050" y="1853306"/>
            <a:ext cx="298460" cy="298460"/>
          </a:xfrm>
          <a:prstGeom prst="rect">
            <a:avLst/>
          </a:prstGeom>
        </p:spPr>
      </p:pic>
      <p:sp>
        <p:nvSpPr>
          <p:cNvPr id="11" name="Text 7"/>
          <p:cNvSpPr/>
          <p:nvPr/>
        </p:nvSpPr>
        <p:spPr>
          <a:xfrm>
            <a:off x="7251192" y="1691640"/>
            <a:ext cx="4096512" cy="621792"/>
          </a:xfrm>
          <a:prstGeom prst="rect">
            <a:avLst/>
          </a:prstGeom>
          <a:noFill/>
          <a:ln/>
        </p:spPr>
        <p:txBody>
          <a:bodyPr wrap="square" rtlCol="0" anchor="ctr"/>
          <a:lstStyle/>
          <a:p>
            <a:pPr indent="0" marL="0">
              <a:buNone/>
            </a:pPr>
            <a:r>
              <a:rPr lang="en-US" sz="1650" b="1" dirty="0">
                <a:solidFill>
                  <a:srgbClr val="3E8C86"/>
                </a:solidFill>
                <a:latin typeface="Century Schoolbook" pitchFamily="34" charset="0"/>
                <a:ea typeface="Century Schoolbook" pitchFamily="34" charset="-122"/>
                <a:cs typeface="Century Schoolbook" pitchFamily="34" charset="-120"/>
              </a:rPr>
              <a:t>On the Ground in Nablus</a:t>
            </a:r>
            <a:endParaRPr lang="en-US" sz="1650" dirty="0"/>
          </a:p>
        </p:txBody>
      </p:sp>
      <p:sp>
        <p:nvSpPr>
          <p:cNvPr id="12" name="Text 8"/>
          <p:cNvSpPr/>
          <p:nvPr/>
        </p:nvSpPr>
        <p:spPr>
          <a:xfrm>
            <a:off x="896112" y="2350008"/>
            <a:ext cx="4773168" cy="292608"/>
          </a:xfrm>
          <a:prstGeom prst="rect">
            <a:avLst/>
          </a:prstGeom>
          <a:noFill/>
          <a:ln/>
        </p:spPr>
        <p:txBody>
          <a:bodyPr wrap="square" rtlCol="0" anchor="ctr"/>
          <a:lstStyle/>
          <a:p>
            <a:pPr indent="0" marL="0">
              <a:buNone/>
            </a:pPr>
            <a:r>
              <a:rPr lang="en-US" sz="1250" b="1" dirty="0">
                <a:solidFill>
                  <a:srgbClr val="14323B"/>
                </a:solidFill>
                <a:latin typeface="Calibri" pitchFamily="34" charset="0"/>
                <a:ea typeface="Calibri" pitchFamily="34" charset="-122"/>
                <a:cs typeface="Calibri" pitchFamily="34" charset="-120"/>
              </a:rPr>
              <a:t>Palestinian Local Authorities Law No. 1 (1997), Article 9</a:t>
            </a:r>
            <a:endParaRPr lang="en-US" sz="1250" dirty="0"/>
          </a:p>
        </p:txBody>
      </p:sp>
      <p:sp>
        <p:nvSpPr>
          <p:cNvPr id="13" name="Shape 9"/>
          <p:cNvSpPr/>
          <p:nvPr/>
        </p:nvSpPr>
        <p:spPr>
          <a:xfrm>
            <a:off x="896112" y="2660904"/>
            <a:ext cx="4773168" cy="777240"/>
          </a:xfrm>
          <a:prstGeom prst="roundRect">
            <a:avLst>
              <a:gd name="adj" fmla="val 8235"/>
            </a:avLst>
          </a:prstGeom>
          <a:solidFill>
            <a:srgbClr val="D8ECEA"/>
          </a:solidFill>
          <a:ln/>
        </p:spPr>
      </p:sp>
      <p:sp>
        <p:nvSpPr>
          <p:cNvPr id="14" name="Text 10"/>
          <p:cNvSpPr/>
          <p:nvPr/>
        </p:nvSpPr>
        <p:spPr>
          <a:xfrm>
            <a:off x="1042416" y="2715768"/>
            <a:ext cx="4480560" cy="685800"/>
          </a:xfrm>
          <a:prstGeom prst="rect">
            <a:avLst/>
          </a:prstGeom>
          <a:noFill/>
          <a:ln/>
        </p:spPr>
        <p:txBody>
          <a:bodyPr wrap="square" rtlCol="0" anchor="ctr"/>
          <a:lstStyle/>
          <a:p>
            <a:pPr indent="0" marL="0">
              <a:lnSpc>
                <a:spcPct val="108000"/>
              </a:lnSpc>
              <a:buNone/>
            </a:pPr>
            <a:r>
              <a:rPr lang="en-US" sz="1000" i="1" dirty="0">
                <a:solidFill>
                  <a:srgbClr val="1C2B31"/>
                </a:solidFill>
                <a:latin typeface="Calibri" pitchFamily="34" charset="0"/>
                <a:ea typeface="Calibri" pitchFamily="34" charset="-122"/>
                <a:cs typeface="Calibri" pitchFamily="34" charset="-120"/>
              </a:rPr>
              <a:t>"Municipalities shall monitor bread, meat, fish, fruit, vegetables and other foodstuffs... in coordination with the competent government bodies."</a:t>
            </a:r>
            <a:endParaRPr lang="en-US" sz="1000" dirty="0"/>
          </a:p>
        </p:txBody>
      </p:sp>
      <p:sp>
        <p:nvSpPr>
          <p:cNvPr id="15" name="Text 11"/>
          <p:cNvSpPr/>
          <p:nvPr/>
        </p:nvSpPr>
        <p:spPr>
          <a:xfrm>
            <a:off x="896112" y="3483864"/>
            <a:ext cx="4773168" cy="310896"/>
          </a:xfrm>
          <a:prstGeom prst="rect">
            <a:avLst/>
          </a:prstGeom>
          <a:noFill/>
          <a:ln/>
        </p:spPr>
        <p:txBody>
          <a:bodyPr wrap="square" rtlCol="0" anchor="ctr"/>
          <a:lstStyle/>
          <a:p>
            <a:pPr indent="0" marL="0">
              <a:lnSpc>
                <a:spcPct val="110000"/>
              </a:lnSpc>
              <a:buNone/>
            </a:pPr>
            <a:r>
              <a:rPr lang="en-US" sz="1000" i="1" dirty="0">
                <a:solidFill>
                  <a:srgbClr val="5E7178"/>
                </a:solidFill>
                <a:latin typeface="Calibri" pitchFamily="34" charset="0"/>
                <a:ea typeface="Calibri" pitchFamily="34" charset="-122"/>
                <a:cs typeface="Calibri" pitchFamily="34" charset="-120"/>
              </a:rPr>
              <a:t>The law itself calls for coordination — not exclusive, siloed authority.</a:t>
            </a:r>
            <a:endParaRPr lang="en-US" sz="1000" dirty="0"/>
          </a:p>
        </p:txBody>
      </p:sp>
      <p:sp>
        <p:nvSpPr>
          <p:cNvPr id="16" name="Shape 12"/>
          <p:cNvSpPr/>
          <p:nvPr/>
        </p:nvSpPr>
        <p:spPr>
          <a:xfrm>
            <a:off x="6519672" y="2432304"/>
            <a:ext cx="91440" cy="91440"/>
          </a:xfrm>
          <a:prstGeom prst="roundRect">
            <a:avLst>
              <a:gd name="adj" fmla="val 50000"/>
            </a:avLst>
          </a:prstGeom>
          <a:solidFill>
            <a:srgbClr val="3E8C86"/>
          </a:solidFill>
          <a:ln/>
        </p:spPr>
      </p:sp>
      <p:sp>
        <p:nvSpPr>
          <p:cNvPr id="17" name="Text 13"/>
          <p:cNvSpPr/>
          <p:nvPr/>
        </p:nvSpPr>
        <p:spPr>
          <a:xfrm>
            <a:off x="6720840" y="2295144"/>
            <a:ext cx="4572000" cy="457200"/>
          </a:xfrm>
          <a:prstGeom prst="rect">
            <a:avLst/>
          </a:prstGeom>
          <a:noFill/>
          <a:ln/>
        </p:spPr>
        <p:txBody>
          <a:bodyPr wrap="square" rtlCol="0" anchor="t"/>
          <a:lstStyle/>
          <a:p>
            <a:pPr indent="0" marL="0">
              <a:lnSpc>
                <a:spcPct val="108000"/>
              </a:lnSpc>
              <a:buNone/>
            </a:pPr>
            <a:r>
              <a:rPr lang="en-US" sz="1150" b="1" dirty="0">
                <a:solidFill>
                  <a:srgbClr val="14323B"/>
                </a:solidFill>
                <a:latin typeface="Calibri" pitchFamily="34" charset="0"/>
                <a:ea typeface="Calibri" pitchFamily="34" charset="-122"/>
                <a:cs typeface="Calibri" pitchFamily="34" charset="-120"/>
              </a:rPr>
              <a:t>Health &amp; Environment Dept.</a:t>
            </a:r>
            <a:pPr indent="0" marL="0">
              <a:lnSpc>
                <a:spcPct val="108000"/>
              </a:lnSpc>
              <a:buNone/>
            </a:pPr>
            <a:r>
              <a:rPr lang="en-US" sz="1100" dirty="0">
                <a:solidFill>
                  <a:srgbClr val="1C2B31"/>
                </a:solidFill>
                <a:latin typeface="Calibri" pitchFamily="34" charset="0"/>
                <a:ea typeface="Calibri" pitchFamily="34" charset="-122"/>
                <a:cs typeface="Calibri" pitchFamily="34" charset="-120"/>
              </a:rPr>
              <a:t> — Nablus Municipality (est. 1868)</a:t>
            </a:r>
            <a:endParaRPr lang="en-US" sz="1150" dirty="0"/>
          </a:p>
        </p:txBody>
      </p:sp>
      <p:sp>
        <p:nvSpPr>
          <p:cNvPr id="18" name="Shape 14"/>
          <p:cNvSpPr/>
          <p:nvPr/>
        </p:nvSpPr>
        <p:spPr>
          <a:xfrm>
            <a:off x="6519672" y="2962656"/>
            <a:ext cx="91440" cy="91440"/>
          </a:xfrm>
          <a:prstGeom prst="roundRect">
            <a:avLst>
              <a:gd name="adj" fmla="val 50000"/>
            </a:avLst>
          </a:prstGeom>
          <a:solidFill>
            <a:srgbClr val="3E8C86"/>
          </a:solidFill>
          <a:ln/>
        </p:spPr>
      </p:sp>
      <p:sp>
        <p:nvSpPr>
          <p:cNvPr id="19" name="Text 15"/>
          <p:cNvSpPr/>
          <p:nvPr/>
        </p:nvSpPr>
        <p:spPr>
          <a:xfrm>
            <a:off x="6720840" y="2825496"/>
            <a:ext cx="4572000" cy="457200"/>
          </a:xfrm>
          <a:prstGeom prst="rect">
            <a:avLst/>
          </a:prstGeom>
          <a:noFill/>
          <a:ln/>
        </p:spPr>
        <p:txBody>
          <a:bodyPr wrap="square" rtlCol="0" anchor="t"/>
          <a:lstStyle/>
          <a:p>
            <a:pPr indent="0" marL="0">
              <a:lnSpc>
                <a:spcPct val="108000"/>
              </a:lnSpc>
              <a:buNone/>
            </a:pPr>
            <a:r>
              <a:rPr lang="en-US" sz="1150" b="1" dirty="0">
                <a:solidFill>
                  <a:srgbClr val="14323B"/>
                </a:solidFill>
                <a:latin typeface="Calibri" pitchFamily="34" charset="0"/>
                <a:ea typeface="Calibri" pitchFamily="34" charset="-122"/>
                <a:cs typeface="Calibri" pitchFamily="34" charset="-120"/>
              </a:rPr>
              <a:t>44-person Health Inspection Unit</a:t>
            </a:r>
            <a:pPr indent="0" marL="0">
              <a:lnSpc>
                <a:spcPct val="108000"/>
              </a:lnSpc>
              <a:buNone/>
            </a:pPr>
            <a:r>
              <a:rPr lang="en-US" sz="1100" dirty="0">
                <a:solidFill>
                  <a:srgbClr val="1C2B31"/>
                </a:solidFill>
                <a:latin typeface="Calibri" pitchFamily="34" charset="0"/>
                <a:ea typeface="Calibri" pitchFamily="34" charset="-122"/>
                <a:cs typeface="Calibri" pitchFamily="34" charset="-120"/>
              </a:rPr>
              <a:t> — markets, factories, restaurants &amp; butcheries</a:t>
            </a:r>
            <a:endParaRPr lang="en-US" sz="1150" dirty="0"/>
          </a:p>
        </p:txBody>
      </p:sp>
      <p:sp>
        <p:nvSpPr>
          <p:cNvPr id="20" name="Shape 16"/>
          <p:cNvSpPr/>
          <p:nvPr/>
        </p:nvSpPr>
        <p:spPr>
          <a:xfrm>
            <a:off x="6519672" y="3493008"/>
            <a:ext cx="91440" cy="91440"/>
          </a:xfrm>
          <a:prstGeom prst="roundRect">
            <a:avLst>
              <a:gd name="adj" fmla="val 50000"/>
            </a:avLst>
          </a:prstGeom>
          <a:solidFill>
            <a:srgbClr val="3E8C86"/>
          </a:solidFill>
          <a:ln/>
        </p:spPr>
      </p:sp>
      <p:sp>
        <p:nvSpPr>
          <p:cNvPr id="21" name="Text 17"/>
          <p:cNvSpPr/>
          <p:nvPr/>
        </p:nvSpPr>
        <p:spPr>
          <a:xfrm>
            <a:off x="6720840" y="3355848"/>
            <a:ext cx="4572000" cy="457200"/>
          </a:xfrm>
          <a:prstGeom prst="rect">
            <a:avLst/>
          </a:prstGeom>
          <a:noFill/>
          <a:ln/>
        </p:spPr>
        <p:txBody>
          <a:bodyPr wrap="square" rtlCol="0" anchor="t"/>
          <a:lstStyle/>
          <a:p>
            <a:pPr indent="0" marL="0">
              <a:lnSpc>
                <a:spcPct val="108000"/>
              </a:lnSpc>
              <a:buNone/>
            </a:pPr>
            <a:r>
              <a:rPr lang="en-US" sz="1150" b="1" dirty="0">
                <a:solidFill>
                  <a:srgbClr val="14323B"/>
                </a:solidFill>
                <a:latin typeface="Calibri" pitchFamily="34" charset="0"/>
                <a:ea typeface="Calibri" pitchFamily="34" charset="-122"/>
                <a:cs typeface="Calibri" pitchFamily="34" charset="-120"/>
              </a:rPr>
              <a:t>Headed by Dr. Nidal Mansour</a:t>
            </a:r>
            <a:pPr indent="0" marL="0">
              <a:lnSpc>
                <a:spcPct val="108000"/>
              </a:lnSpc>
              <a:buNone/>
            </a:pPr>
            <a:r>
              <a:rPr lang="en-US" sz="1100" dirty="0">
                <a:solidFill>
                  <a:srgbClr val="1C2B31"/>
                </a:solidFill>
                <a:latin typeface="Calibri" pitchFamily="34" charset="0"/>
                <a:ea typeface="Calibri" pitchFamily="34" charset="-122"/>
                <a:cs typeface="Calibri" pitchFamily="34" charset="-120"/>
              </a:rPr>
              <a:t> — Source: nablus.org</a:t>
            </a:r>
            <a:endParaRPr lang="en-US" sz="1150" dirty="0"/>
          </a:p>
        </p:txBody>
      </p:sp>
      <p:sp>
        <p:nvSpPr>
          <p:cNvPr id="22" name="Shape 18"/>
          <p:cNvSpPr/>
          <p:nvPr/>
        </p:nvSpPr>
        <p:spPr>
          <a:xfrm>
            <a:off x="640080" y="4041648"/>
            <a:ext cx="10908792" cy="2651760"/>
          </a:xfrm>
          <a:prstGeom prst="roundRect">
            <a:avLst>
              <a:gd name="adj" fmla="val 4138"/>
            </a:avLst>
          </a:prstGeom>
          <a:solidFill>
            <a:srgbClr val="14323B"/>
          </a:solidFill>
          <a:ln/>
        </p:spPr>
      </p:sp>
      <p:sp>
        <p:nvSpPr>
          <p:cNvPr id="23" name="Text 19"/>
          <p:cNvSpPr/>
          <p:nvPr/>
        </p:nvSpPr>
        <p:spPr>
          <a:xfrm>
            <a:off x="896112" y="4187952"/>
            <a:ext cx="10424160" cy="365760"/>
          </a:xfrm>
          <a:prstGeom prst="rect">
            <a:avLst/>
          </a:prstGeom>
          <a:noFill/>
          <a:ln/>
        </p:spPr>
        <p:txBody>
          <a:bodyPr wrap="square" rtlCol="0" anchor="ctr"/>
          <a:lstStyle/>
          <a:p>
            <a:pPr indent="0" marL="0">
              <a:buNone/>
            </a:pPr>
            <a:r>
              <a:rPr lang="en-US" sz="1700" b="1" dirty="0">
                <a:solidFill>
                  <a:srgbClr val="E8A33D"/>
                </a:solidFill>
                <a:latin typeface="Century Schoolbook" pitchFamily="34" charset="0"/>
                <a:ea typeface="Century Schoolbook" pitchFamily="34" charset="-122"/>
                <a:cs typeface="Century Schoolbook" pitchFamily="34" charset="-120"/>
              </a:rPr>
              <a:t>How Joint Committees Actually Work</a:t>
            </a:r>
            <a:endParaRPr lang="en-US" sz="1700" dirty="0"/>
          </a:p>
        </p:txBody>
      </p:sp>
      <p:sp>
        <p:nvSpPr>
          <p:cNvPr id="24" name="Text 20"/>
          <p:cNvSpPr/>
          <p:nvPr/>
        </p:nvSpPr>
        <p:spPr>
          <a:xfrm>
            <a:off x="896112" y="4526280"/>
            <a:ext cx="10424160" cy="274320"/>
          </a:xfrm>
          <a:prstGeom prst="rect">
            <a:avLst/>
          </a:prstGeom>
          <a:noFill/>
          <a:ln/>
        </p:spPr>
        <p:txBody>
          <a:bodyPr wrap="square" rtlCol="0" anchor="ctr"/>
          <a:lstStyle/>
          <a:p>
            <a:pPr indent="0" marL="0">
              <a:buNone/>
            </a:pPr>
            <a:r>
              <a:rPr lang="en-US" sz="1100" i="1" dirty="0">
                <a:solidFill>
                  <a:srgbClr val="AFCBC8"/>
                </a:solidFill>
                <a:latin typeface="Calibri" pitchFamily="34" charset="0"/>
                <a:ea typeface="Calibri" pitchFamily="34" charset="-122"/>
                <a:cs typeface="Calibri" pitchFamily="34" charset="-120"/>
              </a:rPr>
              <a:t>A documented example — Al-Bireh Municipality</a:t>
            </a:r>
            <a:endParaRPr lang="en-US" sz="1100" dirty="0"/>
          </a:p>
        </p:txBody>
      </p:sp>
      <p:sp>
        <p:nvSpPr>
          <p:cNvPr id="25" name="Shape 21"/>
          <p:cNvSpPr/>
          <p:nvPr/>
        </p:nvSpPr>
        <p:spPr>
          <a:xfrm>
            <a:off x="2359152" y="4937760"/>
            <a:ext cx="530352" cy="530352"/>
          </a:xfrm>
          <a:prstGeom prst="ellipse">
            <a:avLst/>
          </a:prstGeom>
          <a:solidFill>
            <a:srgbClr val="0B7A75"/>
          </a:solidFill>
          <a:ln/>
        </p:spPr>
      </p:sp>
      <p:pic>
        <p:nvPicPr>
          <p:cNvPr id="26" name="Image 2" descr="icons/flask_white.png">    </p:cNvPr>
          <p:cNvPicPr>
            <a:picLocks noChangeAspect="1"/>
          </p:cNvPicPr>
          <p:nvPr/>
        </p:nvPicPr>
        <p:blipFill>
          <a:blip r:embed="rId3"/>
          <a:stretch>
            <a:fillRect/>
          </a:stretch>
        </p:blipFill>
        <p:spPr>
          <a:xfrm>
            <a:off x="2497044" y="5075652"/>
            <a:ext cx="254569" cy="254569"/>
          </a:xfrm>
          <a:prstGeom prst="rect">
            <a:avLst/>
          </a:prstGeom>
        </p:spPr>
      </p:pic>
      <p:sp>
        <p:nvSpPr>
          <p:cNvPr id="27" name="Text 22"/>
          <p:cNvSpPr/>
          <p:nvPr/>
        </p:nvSpPr>
        <p:spPr>
          <a:xfrm>
            <a:off x="896112" y="5550408"/>
            <a:ext cx="3456432" cy="457200"/>
          </a:xfrm>
          <a:prstGeom prst="rect">
            <a:avLst/>
          </a:prstGeom>
          <a:noFill/>
          <a:ln/>
        </p:spPr>
        <p:txBody>
          <a:bodyPr wrap="square" rtlCol="0" anchor="t"/>
          <a:lstStyle/>
          <a:p>
            <a:pPr algn="ctr" indent="0" marL="0">
              <a:lnSpc>
                <a:spcPct val="100000"/>
              </a:lnSpc>
              <a:buNone/>
            </a:pPr>
            <a:r>
              <a:rPr lang="en-US" sz="1300" b="1" dirty="0">
                <a:solidFill>
                  <a:srgbClr val="FFFFFF"/>
                </a:solidFill>
                <a:latin typeface="Century Schoolbook" pitchFamily="34" charset="0"/>
                <a:ea typeface="Century Schoolbook" pitchFamily="34" charset="-122"/>
                <a:cs typeface="Century Schoolbook" pitchFamily="34" charset="-120"/>
              </a:rPr>
              <a:t>Ministry of Health inspector</a:t>
            </a:r>
            <a:endParaRPr lang="en-US" sz="1300" dirty="0"/>
          </a:p>
        </p:txBody>
      </p:sp>
      <p:sp>
        <p:nvSpPr>
          <p:cNvPr id="28" name="Text 23"/>
          <p:cNvSpPr/>
          <p:nvPr/>
        </p:nvSpPr>
        <p:spPr>
          <a:xfrm>
            <a:off x="896112" y="5998464"/>
            <a:ext cx="3456432" cy="292608"/>
          </a:xfrm>
          <a:prstGeom prst="rect">
            <a:avLst/>
          </a:prstGeom>
          <a:noFill/>
          <a:ln/>
        </p:spPr>
        <p:txBody>
          <a:bodyPr wrap="square" rtlCol="0" anchor="ctr"/>
          <a:lstStyle/>
          <a:p>
            <a:pPr algn="ctr" indent="0" marL="0">
              <a:buNone/>
            </a:pPr>
            <a:r>
              <a:rPr lang="en-US" sz="1100" dirty="0">
                <a:solidFill>
                  <a:srgbClr val="AFCBC8"/>
                </a:solidFill>
                <a:latin typeface="Calibri" pitchFamily="34" charset="0"/>
                <a:ea typeface="Calibri" pitchFamily="34" charset="-122"/>
                <a:cs typeface="Calibri" pitchFamily="34" charset="-120"/>
              </a:rPr>
              <a:t>Lab sampling</a:t>
            </a:r>
            <a:endParaRPr lang="en-US" sz="1100" dirty="0"/>
          </a:p>
        </p:txBody>
      </p:sp>
      <p:sp>
        <p:nvSpPr>
          <p:cNvPr id="29" name="Shape 24"/>
          <p:cNvSpPr/>
          <p:nvPr/>
        </p:nvSpPr>
        <p:spPr>
          <a:xfrm>
            <a:off x="5998464" y="4937760"/>
            <a:ext cx="530352" cy="530352"/>
          </a:xfrm>
          <a:prstGeom prst="ellipse">
            <a:avLst/>
          </a:prstGeom>
          <a:solidFill>
            <a:srgbClr val="0B7A75"/>
          </a:solidFill>
          <a:ln/>
        </p:spPr>
      </p:sp>
      <p:pic>
        <p:nvPicPr>
          <p:cNvPr id="30" name="Image 3" descr="icons/broom_white.png">    </p:cNvPr>
          <p:cNvPicPr>
            <a:picLocks noChangeAspect="1"/>
          </p:cNvPicPr>
          <p:nvPr/>
        </p:nvPicPr>
        <p:blipFill>
          <a:blip r:embed="rId4"/>
          <a:stretch>
            <a:fillRect/>
          </a:stretch>
        </p:blipFill>
        <p:spPr>
          <a:xfrm>
            <a:off x="6136356" y="5075652"/>
            <a:ext cx="254569" cy="254569"/>
          </a:xfrm>
          <a:prstGeom prst="rect">
            <a:avLst/>
          </a:prstGeom>
        </p:spPr>
      </p:pic>
      <p:sp>
        <p:nvSpPr>
          <p:cNvPr id="31" name="Text 25"/>
          <p:cNvSpPr/>
          <p:nvPr/>
        </p:nvSpPr>
        <p:spPr>
          <a:xfrm>
            <a:off x="4535424" y="5550408"/>
            <a:ext cx="3456432" cy="457200"/>
          </a:xfrm>
          <a:prstGeom prst="rect">
            <a:avLst/>
          </a:prstGeom>
          <a:noFill/>
          <a:ln/>
        </p:spPr>
        <p:txBody>
          <a:bodyPr wrap="square" rtlCol="0" anchor="t"/>
          <a:lstStyle/>
          <a:p>
            <a:pPr algn="ctr" indent="0" marL="0">
              <a:lnSpc>
                <a:spcPct val="100000"/>
              </a:lnSpc>
              <a:buNone/>
            </a:pPr>
            <a:r>
              <a:rPr lang="en-US" sz="1300" b="1" dirty="0">
                <a:solidFill>
                  <a:srgbClr val="FFFFFF"/>
                </a:solidFill>
                <a:latin typeface="Century Schoolbook" pitchFamily="34" charset="0"/>
                <a:ea typeface="Century Schoolbook" pitchFamily="34" charset="-122"/>
                <a:cs typeface="Century Schoolbook" pitchFamily="34" charset="-120"/>
              </a:rPr>
              <a:t>Municipality inspector</a:t>
            </a:r>
            <a:endParaRPr lang="en-US" sz="1300" dirty="0"/>
          </a:p>
        </p:txBody>
      </p:sp>
      <p:sp>
        <p:nvSpPr>
          <p:cNvPr id="32" name="Text 26"/>
          <p:cNvSpPr/>
          <p:nvPr/>
        </p:nvSpPr>
        <p:spPr>
          <a:xfrm>
            <a:off x="4535424" y="5998464"/>
            <a:ext cx="3456432" cy="292608"/>
          </a:xfrm>
          <a:prstGeom prst="rect">
            <a:avLst/>
          </a:prstGeom>
          <a:noFill/>
          <a:ln/>
        </p:spPr>
        <p:txBody>
          <a:bodyPr wrap="square" rtlCol="0" anchor="ctr"/>
          <a:lstStyle/>
          <a:p>
            <a:pPr algn="ctr" indent="0" marL="0">
              <a:buNone/>
            </a:pPr>
            <a:r>
              <a:rPr lang="en-US" sz="1100" dirty="0">
                <a:solidFill>
                  <a:srgbClr val="AFCBC8"/>
                </a:solidFill>
                <a:latin typeface="Calibri" pitchFamily="34" charset="0"/>
                <a:ea typeface="Calibri" pitchFamily="34" charset="-122"/>
                <a:cs typeface="Calibri" pitchFamily="34" charset="-120"/>
              </a:rPr>
              <a:t>Sensory &amp; cleanliness check</a:t>
            </a:r>
            <a:endParaRPr lang="en-US" sz="1100" dirty="0"/>
          </a:p>
        </p:txBody>
      </p:sp>
      <p:sp>
        <p:nvSpPr>
          <p:cNvPr id="33" name="Shape 27"/>
          <p:cNvSpPr/>
          <p:nvPr/>
        </p:nvSpPr>
        <p:spPr>
          <a:xfrm>
            <a:off x="9637776" y="4937760"/>
            <a:ext cx="530352" cy="530352"/>
          </a:xfrm>
          <a:prstGeom prst="ellipse">
            <a:avLst/>
          </a:prstGeom>
          <a:solidFill>
            <a:srgbClr val="0B7A75"/>
          </a:solidFill>
          <a:ln/>
        </p:spPr>
      </p:sp>
      <p:pic>
        <p:nvPicPr>
          <p:cNvPr id="34" name="Image 4" descr="icons/tag_white.png">    </p:cNvPr>
          <p:cNvPicPr>
            <a:picLocks noChangeAspect="1"/>
          </p:cNvPicPr>
          <p:nvPr/>
        </p:nvPicPr>
        <p:blipFill>
          <a:blip r:embed="rId5"/>
          <a:stretch>
            <a:fillRect/>
          </a:stretch>
        </p:blipFill>
        <p:spPr>
          <a:xfrm>
            <a:off x="9775668" y="5075652"/>
            <a:ext cx="254569" cy="254569"/>
          </a:xfrm>
          <a:prstGeom prst="rect">
            <a:avLst/>
          </a:prstGeom>
        </p:spPr>
      </p:pic>
      <p:sp>
        <p:nvSpPr>
          <p:cNvPr id="35" name="Text 28"/>
          <p:cNvSpPr/>
          <p:nvPr/>
        </p:nvSpPr>
        <p:spPr>
          <a:xfrm>
            <a:off x="8174736" y="5550408"/>
            <a:ext cx="3456432" cy="457200"/>
          </a:xfrm>
          <a:prstGeom prst="rect">
            <a:avLst/>
          </a:prstGeom>
          <a:noFill/>
          <a:ln/>
        </p:spPr>
        <p:txBody>
          <a:bodyPr wrap="square" rtlCol="0" anchor="t"/>
          <a:lstStyle/>
          <a:p>
            <a:pPr algn="ctr" indent="0" marL="0">
              <a:lnSpc>
                <a:spcPct val="100000"/>
              </a:lnSpc>
              <a:buNone/>
            </a:pPr>
            <a:r>
              <a:rPr lang="en-US" sz="1300" b="1" dirty="0">
                <a:solidFill>
                  <a:srgbClr val="FFFFFF"/>
                </a:solidFill>
                <a:latin typeface="Century Schoolbook" pitchFamily="34" charset="0"/>
                <a:ea typeface="Century Schoolbook" pitchFamily="34" charset="-122"/>
                <a:cs typeface="Century Schoolbook" pitchFamily="34" charset="-120"/>
              </a:rPr>
              <a:t>Ministry of Economy inspector</a:t>
            </a:r>
            <a:endParaRPr lang="en-US" sz="1300" dirty="0"/>
          </a:p>
        </p:txBody>
      </p:sp>
      <p:sp>
        <p:nvSpPr>
          <p:cNvPr id="36" name="Text 29"/>
          <p:cNvSpPr/>
          <p:nvPr/>
        </p:nvSpPr>
        <p:spPr>
          <a:xfrm>
            <a:off x="8174736" y="5998464"/>
            <a:ext cx="3456432" cy="292608"/>
          </a:xfrm>
          <a:prstGeom prst="rect">
            <a:avLst/>
          </a:prstGeom>
          <a:noFill/>
          <a:ln/>
        </p:spPr>
        <p:txBody>
          <a:bodyPr wrap="square" rtlCol="0" anchor="ctr"/>
          <a:lstStyle/>
          <a:p>
            <a:pPr algn="ctr" indent="0" marL="0">
              <a:buNone/>
            </a:pPr>
            <a:r>
              <a:rPr lang="en-US" sz="1100" dirty="0">
                <a:solidFill>
                  <a:srgbClr val="AFCBC8"/>
                </a:solidFill>
                <a:latin typeface="Calibri" pitchFamily="34" charset="0"/>
                <a:ea typeface="Calibri" pitchFamily="34" charset="-122"/>
                <a:cs typeface="Calibri" pitchFamily="34" charset="-120"/>
              </a:rPr>
              <a:t>Price control</a:t>
            </a:r>
            <a:endParaRPr lang="en-US" sz="1100" dirty="0"/>
          </a:p>
        </p:txBody>
      </p:sp>
      <p:sp>
        <p:nvSpPr>
          <p:cNvPr id="37" name="Text 30"/>
          <p:cNvSpPr/>
          <p:nvPr/>
        </p:nvSpPr>
        <p:spPr>
          <a:xfrm>
            <a:off x="896112" y="6327648"/>
            <a:ext cx="10424160" cy="274320"/>
          </a:xfrm>
          <a:prstGeom prst="rect">
            <a:avLst/>
          </a:prstGeom>
          <a:noFill/>
          <a:ln/>
        </p:spPr>
        <p:txBody>
          <a:bodyPr wrap="square" rtlCol="0" anchor="ctr"/>
          <a:lstStyle/>
          <a:p>
            <a:pPr algn="ctr" indent="0" marL="0">
              <a:buNone/>
            </a:pPr>
            <a:r>
              <a:rPr lang="en-US" sz="1200" dirty="0">
                <a:solidFill>
                  <a:srgbClr val="DCEEEC"/>
                </a:solidFill>
                <a:latin typeface="Calibri" pitchFamily="34" charset="0"/>
                <a:ea typeface="Calibri" pitchFamily="34" charset="-122"/>
                <a:cs typeface="Calibri" pitchFamily="34" charset="-120"/>
              </a:rPr>
              <a:t>Aman links all three to </a:t>
            </a:r>
            <a:pPr algn="ctr" indent="0" marL="0">
              <a:buNone/>
            </a:pPr>
            <a:r>
              <a:rPr lang="en-US" sz="1200" b="1" dirty="0">
                <a:solidFill>
                  <a:srgbClr val="E8A33D"/>
                </a:solidFill>
                <a:latin typeface="Calibri" pitchFamily="34" charset="0"/>
                <a:ea typeface="Calibri" pitchFamily="34" charset="-122"/>
                <a:cs typeface="Calibri" pitchFamily="34" charset="-120"/>
              </a:rPr>
              <a:t>one shared digital record</a:t>
            </a:r>
            <a:pPr algn="ctr" indent="0" marL="0">
              <a:buNone/>
            </a:pPr>
            <a:r>
              <a:rPr lang="en-US" sz="1200" dirty="0">
                <a:solidFill>
                  <a:srgbClr val="DCEEEC"/>
                </a:solidFill>
                <a:latin typeface="Calibri" pitchFamily="34" charset="0"/>
                <a:ea typeface="Calibri" pitchFamily="34" charset="-122"/>
                <a:cs typeface="Calibri" pitchFamily="34" charset="-120"/>
              </a:rPr>
              <a:t> — instead of three separate paper trails.</a:t>
            </a:r>
            <a:endParaRPr lang="en-US" sz="1200" dirty="0"/>
          </a:p>
        </p:txBody>
      </p:sp>
      <p:sp>
        <p:nvSpPr>
          <p:cNvPr id="38" name="Text 31"/>
          <p:cNvSpPr/>
          <p:nvPr/>
        </p:nvSpPr>
        <p:spPr>
          <a:xfrm>
            <a:off x="896112" y="6620256"/>
            <a:ext cx="10424160" cy="256032"/>
          </a:xfrm>
          <a:prstGeom prst="rect">
            <a:avLst/>
          </a:prstGeom>
          <a:noFill/>
          <a:ln/>
        </p:spPr>
        <p:txBody>
          <a:bodyPr wrap="square" rtlCol="0" anchor="ctr"/>
          <a:lstStyle/>
          <a:p>
            <a:pPr algn="ctr" indent="0" marL="0">
              <a:buNone/>
            </a:pPr>
            <a:r>
              <a:rPr lang="en-US" sz="900" i="1" dirty="0">
                <a:solidFill>
                  <a:srgbClr val="6F8B90"/>
                </a:solidFill>
                <a:latin typeface="Calibri" pitchFamily="34" charset="0"/>
                <a:ea typeface="Calibri" pitchFamily="34" charset="-122"/>
                <a:cs typeface="Calibri" pitchFamily="34" charset="-120"/>
              </a:rPr>
              <a:t>Source: PNN — interview with Dr. Iyad Dragmeh, Health Department Director, Al-Bireh Municipality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rtlCol="0" anchor="ctr"/>
          <a:lstStyle/>
          <a:p>
            <a:pPr indent="0" marL="0">
              <a:buNone/>
            </a:pPr>
            <a:r>
              <a:rPr lang="en-US" sz="3600" b="1" dirty="0">
                <a:solidFill>
                  <a:srgbClr val="14323B"/>
                </a:solidFill>
                <a:latin typeface="Century Schoolbook" pitchFamily="34" charset="0"/>
                <a:ea typeface="Century Schoolbook" pitchFamily="34" charset="-122"/>
                <a:cs typeface="Century Schoolbook" pitchFamily="34" charset="-120"/>
              </a:rPr>
              <a:t>Business Model</a:t>
            </a:r>
            <a:endParaRPr lang="en-US" sz="3600" dirty="0"/>
          </a:p>
        </p:txBody>
      </p:sp>
      <p:sp>
        <p:nvSpPr>
          <p:cNvPr id="3" name="Text 1"/>
          <p:cNvSpPr/>
          <p:nvPr/>
        </p:nvSpPr>
        <p:spPr>
          <a:xfrm>
            <a:off x="658368" y="896112"/>
            <a:ext cx="10972800" cy="365760"/>
          </a:xfrm>
          <a:prstGeom prst="rect">
            <a:avLst/>
          </a:prstGeom>
          <a:noFill/>
          <a:ln/>
        </p:spPr>
        <p:txBody>
          <a:bodyPr wrap="square" rtlCol="0" anchor="ctr"/>
          <a:lstStyle/>
          <a:p>
            <a:pPr indent="0" marL="0">
              <a:buNone/>
            </a:pPr>
            <a:r>
              <a:rPr lang="en-US" sz="1650" b="1" dirty="0">
                <a:solidFill>
                  <a:srgbClr val="0B7A75"/>
                </a:solidFill>
                <a:latin typeface="Calibri" pitchFamily="34" charset="0"/>
                <a:ea typeface="Calibri" pitchFamily="34" charset="-122"/>
                <a:cs typeface="Calibri" pitchFamily="34" charset="-120"/>
              </a:rPr>
              <a:t>A sustainable B2G GovTech model — </a:t>
            </a:r>
            <a:pPr indent="0" marL="0">
              <a:buNone/>
            </a:pPr>
            <a:r>
              <a:rPr lang="en-US" sz="1650" dirty="0">
                <a:solidFill>
                  <a:srgbClr val="5E7178"/>
                </a:solidFill>
                <a:latin typeface="Calibri" pitchFamily="34" charset="0"/>
                <a:ea typeface="Calibri" pitchFamily="34" charset="-122"/>
                <a:cs typeface="Calibri" pitchFamily="34" charset="-120"/>
              </a:rPr>
              <a:t>recurring revenue begins after the pilot.</a:t>
            </a:r>
            <a:endParaRPr lang="en-US" sz="1650" dirty="0"/>
          </a:p>
        </p:txBody>
      </p:sp>
      <p:sp>
        <p:nvSpPr>
          <p:cNvPr id="4" name="Shape 2"/>
          <p:cNvSpPr/>
          <p:nvPr/>
        </p:nvSpPr>
        <p:spPr>
          <a:xfrm>
            <a:off x="640080" y="1325880"/>
            <a:ext cx="3246120" cy="4160520"/>
          </a:xfrm>
          <a:prstGeom prst="roundRect">
            <a:avLst>
              <a:gd name="adj" fmla="val 3380"/>
            </a:avLst>
          </a:prstGeom>
          <a:solidFill>
            <a:srgbClr val="F4F7F6"/>
          </a:solidFill>
          <a:ln/>
          <a:effectLst>
            <a:outerShdw sx="100000" sy="100000" kx="0" ky="0" algn="bl" rotWithShape="0" blurRad="76200" dist="25400" dir="5400000">
              <a:srgbClr val="BBBBBB">
                <a:alpha val="40000"/>
              </a:srgbClr>
            </a:outerShdw>
          </a:effectLst>
        </p:spPr>
      </p:sp>
      <p:sp>
        <p:nvSpPr>
          <p:cNvPr id="5" name="Shape 3"/>
          <p:cNvSpPr/>
          <p:nvPr/>
        </p:nvSpPr>
        <p:spPr>
          <a:xfrm>
            <a:off x="877824" y="1545336"/>
            <a:ext cx="658368" cy="658368"/>
          </a:xfrm>
          <a:prstGeom prst="ellipse">
            <a:avLst/>
          </a:prstGeom>
          <a:solidFill>
            <a:srgbClr val="0B7A75"/>
          </a:solidFill>
          <a:ln/>
        </p:spPr>
      </p:sp>
      <p:pic>
        <p:nvPicPr>
          <p:cNvPr id="6" name="Image 0" descr="icons/building_white.png">    </p:cNvPr>
          <p:cNvPicPr>
            <a:picLocks noChangeAspect="1"/>
          </p:cNvPicPr>
          <p:nvPr/>
        </p:nvPicPr>
        <p:blipFill>
          <a:blip r:embed="rId1"/>
          <a:stretch>
            <a:fillRect/>
          </a:stretch>
        </p:blipFill>
        <p:spPr>
          <a:xfrm>
            <a:off x="1049000" y="1716512"/>
            <a:ext cx="316017" cy="316017"/>
          </a:xfrm>
          <a:prstGeom prst="rect">
            <a:avLst/>
          </a:prstGeom>
        </p:spPr>
      </p:pic>
      <p:sp>
        <p:nvSpPr>
          <p:cNvPr id="7" name="Text 4"/>
          <p:cNvSpPr/>
          <p:nvPr/>
        </p:nvSpPr>
        <p:spPr>
          <a:xfrm>
            <a:off x="1609344" y="1545336"/>
            <a:ext cx="2148840" cy="621792"/>
          </a:xfrm>
          <a:prstGeom prst="rect">
            <a:avLst/>
          </a:prstGeom>
          <a:noFill/>
          <a:ln/>
        </p:spPr>
        <p:txBody>
          <a:bodyPr wrap="square" rtlCol="0" anchor="ctr"/>
          <a:lstStyle/>
          <a:p>
            <a:pPr indent="0" marL="0">
              <a:lnSpc>
                <a:spcPct val="95000"/>
              </a:lnSpc>
              <a:buNone/>
            </a:pPr>
            <a:r>
              <a:rPr lang="en-US" sz="1750" b="1" dirty="0">
                <a:solidFill>
                  <a:srgbClr val="0B7A75"/>
                </a:solidFill>
                <a:latin typeface="Century Schoolbook" pitchFamily="34" charset="0"/>
                <a:ea typeface="Century Schoolbook" pitchFamily="34" charset="-122"/>
                <a:cs typeface="Century Schoolbook" pitchFamily="34" charset="-120"/>
              </a:rPr>
              <a:t>Who buys it</a:t>
            </a:r>
            <a:endParaRPr lang="en-US" sz="1750" dirty="0"/>
          </a:p>
        </p:txBody>
      </p:sp>
      <p:sp>
        <p:nvSpPr>
          <p:cNvPr id="8" name="Shape 5"/>
          <p:cNvSpPr/>
          <p:nvPr/>
        </p:nvSpPr>
        <p:spPr>
          <a:xfrm>
            <a:off x="4709160" y="1325880"/>
            <a:ext cx="3246120" cy="4160520"/>
          </a:xfrm>
          <a:prstGeom prst="roundRect">
            <a:avLst>
              <a:gd name="adj" fmla="val 3380"/>
            </a:avLst>
          </a:prstGeom>
          <a:solidFill>
            <a:srgbClr val="F4F7F6"/>
          </a:solidFill>
          <a:ln/>
          <a:effectLst>
            <a:outerShdw sx="100000" sy="100000" kx="0" ky="0" algn="bl" rotWithShape="0" blurRad="76200" dist="25400" dir="5400000">
              <a:srgbClr val="BBBBBB">
                <a:alpha val="40000"/>
              </a:srgbClr>
            </a:outerShdw>
          </a:effectLst>
        </p:spPr>
      </p:sp>
      <p:sp>
        <p:nvSpPr>
          <p:cNvPr id="9" name="Shape 6"/>
          <p:cNvSpPr/>
          <p:nvPr/>
        </p:nvSpPr>
        <p:spPr>
          <a:xfrm>
            <a:off x="4946904" y="1545336"/>
            <a:ext cx="658368" cy="658368"/>
          </a:xfrm>
          <a:prstGeom prst="ellipse">
            <a:avLst/>
          </a:prstGeom>
          <a:solidFill>
            <a:srgbClr val="E8A33D"/>
          </a:solidFill>
          <a:ln/>
        </p:spPr>
      </p:sp>
      <p:pic>
        <p:nvPicPr>
          <p:cNvPr id="10" name="Image 1" descr="icons/money_dark.png">    </p:cNvPr>
          <p:cNvPicPr>
            <a:picLocks noChangeAspect="1"/>
          </p:cNvPicPr>
          <p:nvPr/>
        </p:nvPicPr>
        <p:blipFill>
          <a:blip r:embed="rId2"/>
          <a:stretch>
            <a:fillRect/>
          </a:stretch>
        </p:blipFill>
        <p:spPr>
          <a:xfrm>
            <a:off x="5118080" y="1716512"/>
            <a:ext cx="316017" cy="316017"/>
          </a:xfrm>
          <a:prstGeom prst="rect">
            <a:avLst/>
          </a:prstGeom>
        </p:spPr>
      </p:pic>
      <p:sp>
        <p:nvSpPr>
          <p:cNvPr id="11" name="Text 7"/>
          <p:cNvSpPr/>
          <p:nvPr/>
        </p:nvSpPr>
        <p:spPr>
          <a:xfrm>
            <a:off x="5678424" y="1545336"/>
            <a:ext cx="2148840" cy="621792"/>
          </a:xfrm>
          <a:prstGeom prst="rect">
            <a:avLst/>
          </a:prstGeom>
          <a:noFill/>
          <a:ln/>
        </p:spPr>
        <p:txBody>
          <a:bodyPr wrap="square" rtlCol="0" anchor="ctr"/>
          <a:lstStyle/>
          <a:p>
            <a:pPr indent="0" marL="0">
              <a:lnSpc>
                <a:spcPct val="95000"/>
              </a:lnSpc>
              <a:buNone/>
            </a:pPr>
            <a:r>
              <a:rPr lang="en-US" sz="1500" b="1" dirty="0">
                <a:solidFill>
                  <a:srgbClr val="E8A33D"/>
                </a:solidFill>
                <a:latin typeface="Century Schoolbook" pitchFamily="34" charset="0"/>
                <a:ea typeface="Century Schoolbook" pitchFamily="34" charset="-122"/>
                <a:cs typeface="Century Schoolbook" pitchFamily="34" charset="-120"/>
              </a:rPr>
              <a:t>How we fund &amp; earn</a:t>
            </a:r>
            <a:endParaRPr lang="en-US" sz="1500" dirty="0"/>
          </a:p>
        </p:txBody>
      </p:sp>
      <p:sp>
        <p:nvSpPr>
          <p:cNvPr id="12" name="Shape 8"/>
          <p:cNvSpPr/>
          <p:nvPr/>
        </p:nvSpPr>
        <p:spPr>
          <a:xfrm>
            <a:off x="8778240" y="1325880"/>
            <a:ext cx="3246120" cy="4160520"/>
          </a:xfrm>
          <a:prstGeom prst="roundRect">
            <a:avLst>
              <a:gd name="adj" fmla="val 3380"/>
            </a:avLst>
          </a:prstGeom>
          <a:solidFill>
            <a:srgbClr val="F4F7F6"/>
          </a:solidFill>
          <a:ln/>
          <a:effectLst>
            <a:outerShdw sx="100000" sy="100000" kx="0" ky="0" algn="bl" rotWithShape="0" blurRad="76200" dist="25400" dir="5400000">
              <a:srgbClr val="BBBBBB">
                <a:alpha val="40000"/>
              </a:srgbClr>
            </a:outerShdw>
          </a:effectLst>
        </p:spPr>
      </p:sp>
      <p:sp>
        <p:nvSpPr>
          <p:cNvPr id="13" name="Shape 9"/>
          <p:cNvSpPr/>
          <p:nvPr/>
        </p:nvSpPr>
        <p:spPr>
          <a:xfrm>
            <a:off x="9015984" y="1545336"/>
            <a:ext cx="658368" cy="658368"/>
          </a:xfrm>
          <a:prstGeom prst="ellipse">
            <a:avLst/>
          </a:prstGeom>
          <a:solidFill>
            <a:srgbClr val="3E8C86"/>
          </a:solidFill>
          <a:ln/>
        </p:spPr>
      </p:sp>
      <p:pic>
        <p:nvPicPr>
          <p:cNvPr id="14" name="Image 2" descr="icons/globe_white.png">    </p:cNvPr>
          <p:cNvPicPr>
            <a:picLocks noChangeAspect="1"/>
          </p:cNvPicPr>
          <p:nvPr/>
        </p:nvPicPr>
        <p:blipFill>
          <a:blip r:embed="rId3"/>
          <a:stretch>
            <a:fillRect/>
          </a:stretch>
        </p:blipFill>
        <p:spPr>
          <a:xfrm>
            <a:off x="9187160" y="1716512"/>
            <a:ext cx="316017" cy="316017"/>
          </a:xfrm>
          <a:prstGeom prst="rect">
            <a:avLst/>
          </a:prstGeom>
        </p:spPr>
      </p:pic>
      <p:sp>
        <p:nvSpPr>
          <p:cNvPr id="15" name="Text 10"/>
          <p:cNvSpPr/>
          <p:nvPr/>
        </p:nvSpPr>
        <p:spPr>
          <a:xfrm>
            <a:off x="9747504" y="1545336"/>
            <a:ext cx="2148840" cy="621792"/>
          </a:xfrm>
          <a:prstGeom prst="rect">
            <a:avLst/>
          </a:prstGeom>
          <a:noFill/>
          <a:ln/>
        </p:spPr>
        <p:txBody>
          <a:bodyPr wrap="square" rtlCol="0" anchor="ctr"/>
          <a:lstStyle/>
          <a:p>
            <a:pPr indent="0" marL="0">
              <a:lnSpc>
                <a:spcPct val="95000"/>
              </a:lnSpc>
              <a:buNone/>
            </a:pPr>
            <a:r>
              <a:rPr lang="en-US" sz="1750" b="1" dirty="0">
                <a:solidFill>
                  <a:srgbClr val="3E8C86"/>
                </a:solidFill>
                <a:latin typeface="Century Schoolbook" pitchFamily="34" charset="0"/>
                <a:ea typeface="Century Schoolbook" pitchFamily="34" charset="-122"/>
                <a:cs typeface="Century Schoolbook" pitchFamily="34" charset="-120"/>
              </a:rPr>
              <a:t>How we scale</a:t>
            </a:r>
            <a:endParaRPr lang="en-US" sz="1750" dirty="0"/>
          </a:p>
        </p:txBody>
      </p:sp>
      <p:sp>
        <p:nvSpPr>
          <p:cNvPr id="16" name="Shape 11"/>
          <p:cNvSpPr/>
          <p:nvPr/>
        </p:nvSpPr>
        <p:spPr>
          <a:xfrm>
            <a:off x="877824" y="2377440"/>
            <a:ext cx="2770632" cy="109728"/>
          </a:xfrm>
          <a:prstGeom prst="roundRect">
            <a:avLst>
              <a:gd name="adj" fmla="val 41667"/>
            </a:avLst>
          </a:prstGeom>
          <a:solidFill>
            <a:srgbClr val="0B7A75"/>
          </a:solidFill>
          <a:ln/>
        </p:spPr>
      </p:sp>
      <p:sp>
        <p:nvSpPr>
          <p:cNvPr id="17" name="Text 12"/>
          <p:cNvSpPr/>
          <p:nvPr/>
        </p:nvSpPr>
        <p:spPr>
          <a:xfrm>
            <a:off x="877824" y="2523744"/>
            <a:ext cx="2770632" cy="320040"/>
          </a:xfrm>
          <a:prstGeom prst="rect">
            <a:avLst/>
          </a:prstGeom>
          <a:noFill/>
          <a:ln/>
        </p:spPr>
        <p:txBody>
          <a:bodyPr wrap="square" rtlCol="0" anchor="ctr"/>
          <a:lstStyle/>
          <a:p>
            <a:pPr indent="0" marL="0">
              <a:buNone/>
            </a:pPr>
            <a:r>
              <a:rPr lang="en-US" sz="1450" b="1" dirty="0">
                <a:solidFill>
                  <a:srgbClr val="14323B"/>
                </a:solidFill>
                <a:latin typeface="Century Schoolbook" pitchFamily="34" charset="0"/>
                <a:ea typeface="Century Schoolbook" pitchFamily="34" charset="-122"/>
                <a:cs typeface="Century Schoolbook" pitchFamily="34" charset="-120"/>
              </a:rPr>
              <a:t>Municipalities</a:t>
            </a:r>
            <a:endParaRPr lang="en-US" sz="1450" dirty="0"/>
          </a:p>
        </p:txBody>
      </p:sp>
      <p:sp>
        <p:nvSpPr>
          <p:cNvPr id="18" name="Text 13"/>
          <p:cNvSpPr/>
          <p:nvPr/>
        </p:nvSpPr>
        <p:spPr>
          <a:xfrm>
            <a:off x="877824" y="2852928"/>
            <a:ext cx="2770632" cy="548640"/>
          </a:xfrm>
          <a:prstGeom prst="rect">
            <a:avLst/>
          </a:prstGeom>
          <a:noFill/>
          <a:ln/>
        </p:spPr>
        <p:txBody>
          <a:bodyPr wrap="square" rtlCol="0" anchor="ctr"/>
          <a:lstStyle/>
          <a:p>
            <a:pPr indent="0" marL="0">
              <a:lnSpc>
                <a:spcPct val="110000"/>
              </a:lnSpc>
              <a:buNone/>
            </a:pPr>
            <a:r>
              <a:rPr lang="en-US" sz="1150" dirty="0">
                <a:solidFill>
                  <a:srgbClr val="1C2B31"/>
                </a:solidFill>
                <a:latin typeface="Calibri" pitchFamily="34" charset="0"/>
                <a:ea typeface="Calibri" pitchFamily="34" charset="-122"/>
                <a:cs typeface="Calibri" pitchFamily="34" charset="-120"/>
              </a:rPr>
              <a:t>&amp; official regulators (B2G) — the core buyer</a:t>
            </a:r>
            <a:endParaRPr lang="en-US" sz="1150" dirty="0"/>
          </a:p>
        </p:txBody>
      </p:sp>
      <p:sp>
        <p:nvSpPr>
          <p:cNvPr id="19" name="Shape 14"/>
          <p:cNvSpPr/>
          <p:nvPr/>
        </p:nvSpPr>
        <p:spPr>
          <a:xfrm>
            <a:off x="877824" y="3657600"/>
            <a:ext cx="2770632" cy="109728"/>
          </a:xfrm>
          <a:prstGeom prst="roundRect">
            <a:avLst>
              <a:gd name="adj" fmla="val 41667"/>
            </a:avLst>
          </a:prstGeom>
          <a:solidFill>
            <a:srgbClr val="0B7A75"/>
          </a:solidFill>
          <a:ln/>
        </p:spPr>
      </p:sp>
      <p:sp>
        <p:nvSpPr>
          <p:cNvPr id="20" name="Text 15"/>
          <p:cNvSpPr/>
          <p:nvPr/>
        </p:nvSpPr>
        <p:spPr>
          <a:xfrm>
            <a:off x="877824" y="3803904"/>
            <a:ext cx="2770632" cy="320040"/>
          </a:xfrm>
          <a:prstGeom prst="rect">
            <a:avLst/>
          </a:prstGeom>
          <a:noFill/>
          <a:ln/>
        </p:spPr>
        <p:txBody>
          <a:bodyPr wrap="square" rtlCol="0" anchor="ctr"/>
          <a:lstStyle/>
          <a:p>
            <a:pPr indent="0" marL="0">
              <a:buNone/>
            </a:pPr>
            <a:r>
              <a:rPr lang="en-US" sz="1450" b="1" dirty="0">
                <a:solidFill>
                  <a:srgbClr val="14323B"/>
                </a:solidFill>
                <a:latin typeface="Century Schoolbook" pitchFamily="34" charset="0"/>
                <a:ea typeface="Century Schoolbook" pitchFamily="34" charset="-122"/>
                <a:cs typeface="Century Schoolbook" pitchFamily="34" charset="-120"/>
              </a:rPr>
              <a:t>Institutions</a:t>
            </a:r>
            <a:endParaRPr lang="en-US" sz="1450" dirty="0"/>
          </a:p>
        </p:txBody>
      </p:sp>
      <p:sp>
        <p:nvSpPr>
          <p:cNvPr id="21" name="Text 16"/>
          <p:cNvSpPr/>
          <p:nvPr/>
        </p:nvSpPr>
        <p:spPr>
          <a:xfrm>
            <a:off x="877824" y="4133088"/>
            <a:ext cx="2770632" cy="548640"/>
          </a:xfrm>
          <a:prstGeom prst="rect">
            <a:avLst/>
          </a:prstGeom>
          <a:noFill/>
          <a:ln/>
        </p:spPr>
        <p:txBody>
          <a:bodyPr wrap="square" rtlCol="0" anchor="ctr"/>
          <a:lstStyle/>
          <a:p>
            <a:pPr indent="0" marL="0">
              <a:lnSpc>
                <a:spcPct val="110000"/>
              </a:lnSpc>
              <a:buNone/>
            </a:pPr>
            <a:r>
              <a:rPr lang="en-US" sz="1150" dirty="0">
                <a:solidFill>
                  <a:srgbClr val="1C2B31"/>
                </a:solidFill>
                <a:latin typeface="Calibri" pitchFamily="34" charset="0"/>
                <a:ea typeface="Calibri" pitchFamily="34" charset="-122"/>
                <a:cs typeface="Calibri" pitchFamily="34" charset="-120"/>
              </a:rPr>
              <a:t>universities, hospitals, schools, catering firms</a:t>
            </a:r>
            <a:endParaRPr lang="en-US" sz="1150" dirty="0"/>
          </a:p>
        </p:txBody>
      </p:sp>
      <p:sp>
        <p:nvSpPr>
          <p:cNvPr id="22" name="Shape 17"/>
          <p:cNvSpPr/>
          <p:nvPr/>
        </p:nvSpPr>
        <p:spPr>
          <a:xfrm>
            <a:off x="4946904" y="2240280"/>
            <a:ext cx="329184" cy="329184"/>
          </a:xfrm>
          <a:prstGeom prst="ellipse">
            <a:avLst/>
          </a:prstGeom>
          <a:solidFill>
            <a:srgbClr val="0B7A75"/>
          </a:solidFill>
          <a:ln/>
        </p:spPr>
      </p:sp>
      <p:sp>
        <p:nvSpPr>
          <p:cNvPr id="23" name="Text 18"/>
          <p:cNvSpPr/>
          <p:nvPr/>
        </p:nvSpPr>
        <p:spPr>
          <a:xfrm>
            <a:off x="4946904" y="2240280"/>
            <a:ext cx="329184" cy="329184"/>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24" name="Text 19"/>
          <p:cNvSpPr/>
          <p:nvPr/>
        </p:nvSpPr>
        <p:spPr>
          <a:xfrm>
            <a:off x="5385816" y="2185416"/>
            <a:ext cx="2350008" cy="310896"/>
          </a:xfrm>
          <a:prstGeom prst="rect">
            <a:avLst/>
          </a:prstGeom>
          <a:noFill/>
          <a:ln/>
        </p:spPr>
        <p:txBody>
          <a:bodyPr wrap="square" rtlCol="0" anchor="ctr"/>
          <a:lstStyle/>
          <a:p>
            <a:pPr indent="0" marL="0">
              <a:lnSpc>
                <a:spcPct val="90000"/>
              </a:lnSpc>
              <a:buNone/>
            </a:pPr>
            <a:r>
              <a:rPr lang="en-US" sz="1200" b="1" dirty="0">
                <a:solidFill>
                  <a:srgbClr val="14323B"/>
                </a:solidFill>
                <a:latin typeface="Century Schoolbook" pitchFamily="34" charset="0"/>
                <a:ea typeface="Century Schoolbook" pitchFamily="34" charset="-122"/>
                <a:cs typeface="Century Schoolbook" pitchFamily="34" charset="-120"/>
              </a:rPr>
              <a:t>Pilot funding</a:t>
            </a:r>
            <a:endParaRPr lang="en-US" sz="1200" dirty="0"/>
          </a:p>
        </p:txBody>
      </p:sp>
      <p:sp>
        <p:nvSpPr>
          <p:cNvPr id="25" name="Text 20"/>
          <p:cNvSpPr/>
          <p:nvPr/>
        </p:nvSpPr>
        <p:spPr>
          <a:xfrm>
            <a:off x="5385816" y="2496312"/>
            <a:ext cx="2350008" cy="411480"/>
          </a:xfrm>
          <a:prstGeom prst="rect">
            <a:avLst/>
          </a:prstGeom>
          <a:noFill/>
          <a:ln/>
        </p:spPr>
        <p:txBody>
          <a:bodyPr wrap="square" rtlCol="0" anchor="t"/>
          <a:lstStyle/>
          <a:p>
            <a:pPr indent="0" marL="0">
              <a:lnSpc>
                <a:spcPct val="100000"/>
              </a:lnSpc>
              <a:buNone/>
            </a:pPr>
            <a:r>
              <a:rPr lang="en-US" sz="1000" dirty="0">
                <a:solidFill>
                  <a:srgbClr val="5E7178"/>
                </a:solidFill>
                <a:latin typeface="Calibri" pitchFamily="34" charset="0"/>
                <a:ea typeface="Calibri" pitchFamily="34" charset="-122"/>
                <a:cs typeface="Calibri" pitchFamily="34" charset="-120"/>
              </a:rPr>
              <a:t>Grants de-risk adoption</a:t>
            </a:r>
            <a:endParaRPr lang="en-US" sz="1000" dirty="0"/>
          </a:p>
        </p:txBody>
      </p:sp>
      <p:sp>
        <p:nvSpPr>
          <p:cNvPr id="26" name="Shape 21"/>
          <p:cNvSpPr/>
          <p:nvPr/>
        </p:nvSpPr>
        <p:spPr>
          <a:xfrm>
            <a:off x="4946904" y="3017520"/>
            <a:ext cx="329184" cy="329184"/>
          </a:xfrm>
          <a:prstGeom prst="ellipse">
            <a:avLst/>
          </a:prstGeom>
          <a:solidFill>
            <a:srgbClr val="E8A33D"/>
          </a:solidFill>
          <a:ln/>
        </p:spPr>
      </p:sp>
      <p:sp>
        <p:nvSpPr>
          <p:cNvPr id="27" name="Text 22"/>
          <p:cNvSpPr/>
          <p:nvPr/>
        </p:nvSpPr>
        <p:spPr>
          <a:xfrm>
            <a:off x="4946904" y="3017520"/>
            <a:ext cx="329184" cy="329184"/>
          </a:xfrm>
          <a:prstGeom prst="rect">
            <a:avLst/>
          </a:prstGeom>
          <a:noFill/>
          <a:ln/>
        </p:spPr>
        <p:txBody>
          <a:bodyPr wrap="square" rtlCol="0" anchor="ctr"/>
          <a:lstStyle/>
          <a:p>
            <a:pPr algn="ctr" indent="0" marL="0">
              <a:buNone/>
            </a:pPr>
            <a:r>
              <a:rPr lang="en-US" sz="1250" b="1" dirty="0">
                <a:solidFill>
                  <a:srgbClr val="14323B"/>
                </a:solidFill>
                <a:latin typeface="Calibri" pitchFamily="34" charset="0"/>
                <a:ea typeface="Calibri" pitchFamily="34" charset="-122"/>
                <a:cs typeface="Calibri" pitchFamily="34" charset="-120"/>
              </a:rPr>
              <a:t>2</a:t>
            </a:r>
            <a:endParaRPr lang="en-US" sz="1250" dirty="0"/>
          </a:p>
        </p:txBody>
      </p:sp>
      <p:sp>
        <p:nvSpPr>
          <p:cNvPr id="28" name="Text 23"/>
          <p:cNvSpPr/>
          <p:nvPr/>
        </p:nvSpPr>
        <p:spPr>
          <a:xfrm>
            <a:off x="5385816" y="2962656"/>
            <a:ext cx="2350008" cy="310896"/>
          </a:xfrm>
          <a:prstGeom prst="rect">
            <a:avLst/>
          </a:prstGeom>
          <a:noFill/>
          <a:ln/>
        </p:spPr>
        <p:txBody>
          <a:bodyPr wrap="square" rtlCol="0" anchor="ctr"/>
          <a:lstStyle/>
          <a:p>
            <a:pPr indent="0" marL="0">
              <a:lnSpc>
                <a:spcPct val="90000"/>
              </a:lnSpc>
              <a:buNone/>
            </a:pPr>
            <a:r>
              <a:rPr lang="en-US" sz="1200" b="1" dirty="0">
                <a:solidFill>
                  <a:srgbClr val="E8A33D"/>
                </a:solidFill>
                <a:latin typeface="Century Schoolbook" pitchFamily="34" charset="0"/>
                <a:ea typeface="Century Schoolbook" pitchFamily="34" charset="-122"/>
                <a:cs typeface="Century Schoolbook" pitchFamily="34" charset="-120"/>
              </a:rPr>
              <a:t>Annual B2G SaaS license</a:t>
            </a:r>
            <a:endParaRPr lang="en-US" sz="1200" dirty="0"/>
          </a:p>
        </p:txBody>
      </p:sp>
      <p:sp>
        <p:nvSpPr>
          <p:cNvPr id="29" name="Text 24"/>
          <p:cNvSpPr/>
          <p:nvPr/>
        </p:nvSpPr>
        <p:spPr>
          <a:xfrm>
            <a:off x="5385816" y="3273552"/>
            <a:ext cx="2350008" cy="411480"/>
          </a:xfrm>
          <a:prstGeom prst="rect">
            <a:avLst/>
          </a:prstGeom>
          <a:noFill/>
          <a:ln/>
        </p:spPr>
        <p:txBody>
          <a:bodyPr wrap="square" rtlCol="0" anchor="t"/>
          <a:lstStyle/>
          <a:p>
            <a:pPr indent="0" marL="0">
              <a:lnSpc>
                <a:spcPct val="100000"/>
              </a:lnSpc>
              <a:buNone/>
            </a:pPr>
            <a:r>
              <a:rPr lang="en-US" sz="1000" dirty="0">
                <a:solidFill>
                  <a:srgbClr val="5E7178"/>
                </a:solidFill>
                <a:latin typeface="Calibri" pitchFamily="34" charset="0"/>
                <a:ea typeface="Calibri" pitchFamily="34" charset="-122"/>
                <a:cs typeface="Calibri" pitchFamily="34" charset="-120"/>
              </a:rPr>
              <a:t>Recurring municipal revenue</a:t>
            </a:r>
            <a:endParaRPr lang="en-US" sz="1000" dirty="0"/>
          </a:p>
        </p:txBody>
      </p:sp>
      <p:sp>
        <p:nvSpPr>
          <p:cNvPr id="30" name="Shape 25"/>
          <p:cNvSpPr/>
          <p:nvPr/>
        </p:nvSpPr>
        <p:spPr>
          <a:xfrm>
            <a:off x="4946904" y="3794760"/>
            <a:ext cx="329184" cy="329184"/>
          </a:xfrm>
          <a:prstGeom prst="ellipse">
            <a:avLst/>
          </a:prstGeom>
          <a:solidFill>
            <a:srgbClr val="0B7A75"/>
          </a:solidFill>
          <a:ln/>
        </p:spPr>
      </p:sp>
      <p:sp>
        <p:nvSpPr>
          <p:cNvPr id="31" name="Text 26"/>
          <p:cNvSpPr/>
          <p:nvPr/>
        </p:nvSpPr>
        <p:spPr>
          <a:xfrm>
            <a:off x="4946904" y="3794760"/>
            <a:ext cx="329184" cy="329184"/>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2" name="Text 27"/>
          <p:cNvSpPr/>
          <p:nvPr/>
        </p:nvSpPr>
        <p:spPr>
          <a:xfrm>
            <a:off x="5385816" y="3739896"/>
            <a:ext cx="2350008" cy="310896"/>
          </a:xfrm>
          <a:prstGeom prst="rect">
            <a:avLst/>
          </a:prstGeom>
          <a:noFill/>
          <a:ln/>
        </p:spPr>
        <p:txBody>
          <a:bodyPr wrap="square" rtlCol="0" anchor="ctr"/>
          <a:lstStyle/>
          <a:p>
            <a:pPr indent="0" marL="0">
              <a:lnSpc>
                <a:spcPct val="90000"/>
              </a:lnSpc>
              <a:buNone/>
            </a:pPr>
            <a:r>
              <a:rPr lang="en-US" sz="1200" b="1" dirty="0">
                <a:solidFill>
                  <a:srgbClr val="14323B"/>
                </a:solidFill>
                <a:latin typeface="Century Schoolbook" pitchFamily="34" charset="0"/>
                <a:ea typeface="Century Schoolbook" pitchFamily="34" charset="-122"/>
                <a:cs typeface="Century Schoolbook" pitchFamily="34" charset="-120"/>
              </a:rPr>
              <a:t>Institutional subscriptions</a:t>
            </a:r>
            <a:endParaRPr lang="en-US" sz="1200" dirty="0"/>
          </a:p>
        </p:txBody>
      </p:sp>
      <p:sp>
        <p:nvSpPr>
          <p:cNvPr id="33" name="Text 28"/>
          <p:cNvSpPr/>
          <p:nvPr/>
        </p:nvSpPr>
        <p:spPr>
          <a:xfrm>
            <a:off x="5385816" y="4050792"/>
            <a:ext cx="2350008" cy="411480"/>
          </a:xfrm>
          <a:prstGeom prst="rect">
            <a:avLst/>
          </a:prstGeom>
          <a:noFill/>
          <a:ln/>
        </p:spPr>
        <p:txBody>
          <a:bodyPr wrap="square" rtlCol="0" anchor="t"/>
          <a:lstStyle/>
          <a:p>
            <a:pPr indent="0" marL="0">
              <a:lnSpc>
                <a:spcPct val="100000"/>
              </a:lnSpc>
              <a:buNone/>
            </a:pPr>
            <a:r>
              <a:rPr lang="en-US" sz="1000" dirty="0">
                <a:solidFill>
                  <a:srgbClr val="5E7178"/>
                </a:solidFill>
                <a:latin typeface="Calibri" pitchFamily="34" charset="0"/>
                <a:ea typeface="Calibri" pitchFamily="34" charset="-122"/>
                <a:cs typeface="Calibri" pitchFamily="34" charset="-120"/>
              </a:rPr>
              <a:t>Universities, hospitals &amp; catering firms</a:t>
            </a:r>
            <a:endParaRPr lang="en-US" sz="1000" dirty="0"/>
          </a:p>
        </p:txBody>
      </p:sp>
      <p:sp>
        <p:nvSpPr>
          <p:cNvPr id="34" name="Shape 29"/>
          <p:cNvSpPr/>
          <p:nvPr/>
        </p:nvSpPr>
        <p:spPr>
          <a:xfrm>
            <a:off x="4946904" y="4572000"/>
            <a:ext cx="329184" cy="329184"/>
          </a:xfrm>
          <a:prstGeom prst="ellipse">
            <a:avLst/>
          </a:prstGeom>
          <a:solidFill>
            <a:srgbClr val="0B7A75"/>
          </a:solidFill>
          <a:ln/>
        </p:spPr>
      </p:sp>
      <p:sp>
        <p:nvSpPr>
          <p:cNvPr id="35" name="Text 30"/>
          <p:cNvSpPr/>
          <p:nvPr/>
        </p:nvSpPr>
        <p:spPr>
          <a:xfrm>
            <a:off x="4946904" y="4572000"/>
            <a:ext cx="329184" cy="329184"/>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6" name="Text 31"/>
          <p:cNvSpPr/>
          <p:nvPr/>
        </p:nvSpPr>
        <p:spPr>
          <a:xfrm>
            <a:off x="5385816" y="4517136"/>
            <a:ext cx="2350008" cy="310896"/>
          </a:xfrm>
          <a:prstGeom prst="rect">
            <a:avLst/>
          </a:prstGeom>
          <a:noFill/>
          <a:ln/>
        </p:spPr>
        <p:txBody>
          <a:bodyPr wrap="square" rtlCol="0" anchor="ctr"/>
          <a:lstStyle/>
          <a:p>
            <a:pPr indent="0" marL="0">
              <a:lnSpc>
                <a:spcPct val="90000"/>
              </a:lnSpc>
              <a:buNone/>
            </a:pPr>
            <a:r>
              <a:rPr lang="en-US" sz="1200" b="1" dirty="0">
                <a:solidFill>
                  <a:srgbClr val="14323B"/>
                </a:solidFill>
                <a:latin typeface="Century Schoolbook" pitchFamily="34" charset="0"/>
                <a:ea typeface="Century Schoolbook" pitchFamily="34" charset="-122"/>
                <a:cs typeface="Century Schoolbook" pitchFamily="34" charset="-120"/>
              </a:rPr>
              <a:t>Training revenue share</a:t>
            </a:r>
            <a:endParaRPr lang="en-US" sz="1200" dirty="0"/>
          </a:p>
        </p:txBody>
      </p:sp>
      <p:sp>
        <p:nvSpPr>
          <p:cNvPr id="37" name="Text 32"/>
          <p:cNvSpPr/>
          <p:nvPr/>
        </p:nvSpPr>
        <p:spPr>
          <a:xfrm>
            <a:off x="5385816" y="4828032"/>
            <a:ext cx="2350008" cy="411480"/>
          </a:xfrm>
          <a:prstGeom prst="rect">
            <a:avLst/>
          </a:prstGeom>
          <a:noFill/>
          <a:ln/>
        </p:spPr>
        <p:txBody>
          <a:bodyPr wrap="square" rtlCol="0" anchor="t"/>
          <a:lstStyle/>
          <a:p>
            <a:pPr indent="0" marL="0">
              <a:lnSpc>
                <a:spcPct val="100000"/>
              </a:lnSpc>
              <a:buNone/>
            </a:pPr>
            <a:r>
              <a:rPr lang="en-US" sz="1000" dirty="0">
                <a:solidFill>
                  <a:srgbClr val="5E7178"/>
                </a:solidFill>
                <a:latin typeface="Calibri" pitchFamily="34" charset="0"/>
                <a:ea typeface="Calibri" pitchFamily="34" charset="-122"/>
                <a:cs typeface="Calibri" pitchFamily="34" charset="-120"/>
              </a:rPr>
              <a:t>Food-worker safety programs with partners</a:t>
            </a:r>
            <a:endParaRPr lang="en-US" sz="1000" dirty="0"/>
          </a:p>
        </p:txBody>
      </p:sp>
      <p:sp>
        <p:nvSpPr>
          <p:cNvPr id="38" name="Text 33"/>
          <p:cNvSpPr/>
          <p:nvPr/>
        </p:nvSpPr>
        <p:spPr>
          <a:xfrm>
            <a:off x="8942832" y="2286000"/>
            <a:ext cx="320040" cy="365760"/>
          </a:xfrm>
          <a:prstGeom prst="rect">
            <a:avLst/>
          </a:prstGeom>
          <a:noFill/>
          <a:ln/>
        </p:spPr>
        <p:txBody>
          <a:bodyPr wrap="square" rtlCol="0" anchor="ctr"/>
          <a:lstStyle/>
          <a:p>
            <a:pPr indent="0" marL="0">
              <a:buNone/>
            </a:pPr>
            <a:r>
              <a:rPr lang="en-US" sz="1700" b="1" dirty="0">
                <a:solidFill>
                  <a:srgbClr val="3E8C86"/>
                </a:solidFill>
                <a:latin typeface="Calibri" pitchFamily="34" charset="0"/>
                <a:ea typeface="Calibri" pitchFamily="34" charset="-122"/>
                <a:cs typeface="Calibri" pitchFamily="34" charset="-120"/>
              </a:rPr>
              <a:t>→</a:t>
            </a:r>
            <a:endParaRPr lang="en-US" sz="1700" dirty="0"/>
          </a:p>
        </p:txBody>
      </p:sp>
      <p:sp>
        <p:nvSpPr>
          <p:cNvPr id="39" name="Text 34"/>
          <p:cNvSpPr/>
          <p:nvPr/>
        </p:nvSpPr>
        <p:spPr>
          <a:xfrm>
            <a:off x="9326880" y="2286000"/>
            <a:ext cx="2514600" cy="292608"/>
          </a:xfrm>
          <a:prstGeom prst="rect">
            <a:avLst/>
          </a:prstGeom>
          <a:noFill/>
          <a:ln/>
        </p:spPr>
        <p:txBody>
          <a:bodyPr wrap="square" rtlCol="0" anchor="ctr"/>
          <a:lstStyle/>
          <a:p>
            <a:pPr indent="0" marL="0">
              <a:buNone/>
            </a:pPr>
            <a:r>
              <a:rPr lang="en-US" sz="1300" b="1" dirty="0">
                <a:solidFill>
                  <a:srgbClr val="14323B"/>
                </a:solidFill>
                <a:latin typeface="Calibri" pitchFamily="34" charset="0"/>
                <a:ea typeface="Calibri" pitchFamily="34" charset="-122"/>
                <a:cs typeface="Calibri" pitchFamily="34" charset="-120"/>
              </a:rPr>
              <a:t>Pilot</a:t>
            </a:r>
            <a:endParaRPr lang="en-US" sz="1300" dirty="0"/>
          </a:p>
        </p:txBody>
      </p:sp>
      <p:sp>
        <p:nvSpPr>
          <p:cNvPr id="40" name="Text 35"/>
          <p:cNvSpPr/>
          <p:nvPr/>
        </p:nvSpPr>
        <p:spPr>
          <a:xfrm>
            <a:off x="9326880" y="2587752"/>
            <a:ext cx="2514600" cy="457200"/>
          </a:xfrm>
          <a:prstGeom prst="rect">
            <a:avLst/>
          </a:prstGeom>
          <a:noFill/>
          <a:ln/>
        </p:spPr>
        <p:txBody>
          <a:bodyPr wrap="square" rtlCol="0" anchor="t"/>
          <a:lstStyle/>
          <a:p>
            <a:pPr indent="0" marL="0">
              <a:lnSpc>
                <a:spcPct val="105000"/>
              </a:lnSpc>
              <a:buNone/>
            </a:pPr>
            <a:r>
              <a:rPr lang="en-US" sz="1050" dirty="0">
                <a:solidFill>
                  <a:srgbClr val="1C2B31"/>
                </a:solidFill>
                <a:latin typeface="Calibri" pitchFamily="34" charset="0"/>
                <a:ea typeface="Calibri" pitchFamily="34" charset="-122"/>
                <a:cs typeface="Calibri" pitchFamily="34" charset="-120"/>
              </a:rPr>
              <a:t>10–20 venues in Nablus — prove measurable impact</a:t>
            </a:r>
            <a:endParaRPr lang="en-US" sz="1050" dirty="0"/>
          </a:p>
        </p:txBody>
      </p:sp>
      <p:sp>
        <p:nvSpPr>
          <p:cNvPr id="41" name="Text 36"/>
          <p:cNvSpPr/>
          <p:nvPr/>
        </p:nvSpPr>
        <p:spPr>
          <a:xfrm>
            <a:off x="8942832" y="3063240"/>
            <a:ext cx="320040" cy="365760"/>
          </a:xfrm>
          <a:prstGeom prst="rect">
            <a:avLst/>
          </a:prstGeom>
          <a:noFill/>
          <a:ln/>
        </p:spPr>
        <p:txBody>
          <a:bodyPr wrap="square" rtlCol="0" anchor="ctr"/>
          <a:lstStyle/>
          <a:p>
            <a:pPr indent="0" marL="0">
              <a:buNone/>
            </a:pPr>
            <a:r>
              <a:rPr lang="en-US" sz="1700" b="1" dirty="0">
                <a:solidFill>
                  <a:srgbClr val="3E8C86"/>
                </a:solidFill>
                <a:latin typeface="Calibri" pitchFamily="34" charset="0"/>
                <a:ea typeface="Calibri" pitchFamily="34" charset="-122"/>
                <a:cs typeface="Calibri" pitchFamily="34" charset="-120"/>
              </a:rPr>
              <a:t>→</a:t>
            </a:r>
            <a:endParaRPr lang="en-US" sz="1700" dirty="0"/>
          </a:p>
        </p:txBody>
      </p:sp>
      <p:sp>
        <p:nvSpPr>
          <p:cNvPr id="42" name="Text 37"/>
          <p:cNvSpPr/>
          <p:nvPr/>
        </p:nvSpPr>
        <p:spPr>
          <a:xfrm>
            <a:off x="9326880" y="3063240"/>
            <a:ext cx="2514600" cy="292608"/>
          </a:xfrm>
          <a:prstGeom prst="rect">
            <a:avLst/>
          </a:prstGeom>
          <a:noFill/>
          <a:ln/>
        </p:spPr>
        <p:txBody>
          <a:bodyPr wrap="square" rtlCol="0" anchor="ctr"/>
          <a:lstStyle/>
          <a:p>
            <a:pPr indent="0" marL="0">
              <a:buNone/>
            </a:pPr>
            <a:r>
              <a:rPr lang="en-US" sz="1300" b="1" dirty="0">
                <a:solidFill>
                  <a:srgbClr val="14323B"/>
                </a:solidFill>
                <a:latin typeface="Calibri" pitchFamily="34" charset="0"/>
                <a:ea typeface="Calibri" pitchFamily="34" charset="-122"/>
                <a:cs typeface="Calibri" pitchFamily="34" charset="-120"/>
              </a:rPr>
              <a:t>Citywide rollout</a:t>
            </a:r>
            <a:endParaRPr lang="en-US" sz="1300" dirty="0"/>
          </a:p>
        </p:txBody>
      </p:sp>
      <p:sp>
        <p:nvSpPr>
          <p:cNvPr id="43" name="Text 38"/>
          <p:cNvSpPr/>
          <p:nvPr/>
        </p:nvSpPr>
        <p:spPr>
          <a:xfrm>
            <a:off x="9326880" y="3364992"/>
            <a:ext cx="2514600" cy="457200"/>
          </a:xfrm>
          <a:prstGeom prst="rect">
            <a:avLst/>
          </a:prstGeom>
          <a:noFill/>
          <a:ln/>
        </p:spPr>
        <p:txBody>
          <a:bodyPr wrap="square" rtlCol="0" anchor="t"/>
          <a:lstStyle/>
          <a:p>
            <a:pPr indent="0" marL="0">
              <a:lnSpc>
                <a:spcPct val="105000"/>
              </a:lnSpc>
              <a:buNone/>
            </a:pPr>
            <a:r>
              <a:rPr lang="en-US" sz="1050" dirty="0">
                <a:solidFill>
                  <a:srgbClr val="1C2B31"/>
                </a:solidFill>
                <a:latin typeface="Calibri" pitchFamily="34" charset="0"/>
                <a:ea typeface="Calibri" pitchFamily="34" charset="-122"/>
                <a:cs typeface="Calibri" pitchFamily="34" charset="-120"/>
              </a:rPr>
              <a:t>Deploy across Nablus</a:t>
            </a:r>
            <a:endParaRPr lang="en-US" sz="1050" dirty="0"/>
          </a:p>
        </p:txBody>
      </p:sp>
      <p:sp>
        <p:nvSpPr>
          <p:cNvPr id="44" name="Text 39"/>
          <p:cNvSpPr/>
          <p:nvPr/>
        </p:nvSpPr>
        <p:spPr>
          <a:xfrm>
            <a:off x="8942832" y="3840480"/>
            <a:ext cx="320040" cy="365760"/>
          </a:xfrm>
          <a:prstGeom prst="rect">
            <a:avLst/>
          </a:prstGeom>
          <a:noFill/>
          <a:ln/>
        </p:spPr>
        <p:txBody>
          <a:bodyPr wrap="square" rtlCol="0" anchor="ctr"/>
          <a:lstStyle/>
          <a:p>
            <a:pPr indent="0" marL="0">
              <a:buNone/>
            </a:pPr>
            <a:r>
              <a:rPr lang="en-US" sz="1700" b="1" dirty="0">
                <a:solidFill>
                  <a:srgbClr val="3E8C86"/>
                </a:solidFill>
                <a:latin typeface="Calibri" pitchFamily="34" charset="0"/>
                <a:ea typeface="Calibri" pitchFamily="34" charset="-122"/>
                <a:cs typeface="Calibri" pitchFamily="34" charset="-120"/>
              </a:rPr>
              <a:t>→</a:t>
            </a:r>
            <a:endParaRPr lang="en-US" sz="1700" dirty="0"/>
          </a:p>
        </p:txBody>
      </p:sp>
      <p:sp>
        <p:nvSpPr>
          <p:cNvPr id="45" name="Text 40"/>
          <p:cNvSpPr/>
          <p:nvPr/>
        </p:nvSpPr>
        <p:spPr>
          <a:xfrm>
            <a:off x="9326880" y="3840480"/>
            <a:ext cx="2514600" cy="292608"/>
          </a:xfrm>
          <a:prstGeom prst="rect">
            <a:avLst/>
          </a:prstGeom>
          <a:noFill/>
          <a:ln/>
        </p:spPr>
        <p:txBody>
          <a:bodyPr wrap="square" rtlCol="0" anchor="ctr"/>
          <a:lstStyle/>
          <a:p>
            <a:pPr indent="0" marL="0">
              <a:buNone/>
            </a:pPr>
            <a:r>
              <a:rPr lang="en-US" sz="1300" b="1" dirty="0">
                <a:solidFill>
                  <a:srgbClr val="14323B"/>
                </a:solidFill>
                <a:latin typeface="Calibri" pitchFamily="34" charset="0"/>
                <a:ea typeface="Calibri" pitchFamily="34" charset="-122"/>
                <a:cs typeface="Calibri" pitchFamily="34" charset="-120"/>
              </a:rPr>
              <a:t>Replicate</a:t>
            </a:r>
            <a:endParaRPr lang="en-US" sz="1300" dirty="0"/>
          </a:p>
        </p:txBody>
      </p:sp>
      <p:sp>
        <p:nvSpPr>
          <p:cNvPr id="46" name="Text 41"/>
          <p:cNvSpPr/>
          <p:nvPr/>
        </p:nvSpPr>
        <p:spPr>
          <a:xfrm>
            <a:off x="9326880" y="4142232"/>
            <a:ext cx="2514600" cy="457200"/>
          </a:xfrm>
          <a:prstGeom prst="rect">
            <a:avLst/>
          </a:prstGeom>
          <a:noFill/>
          <a:ln/>
        </p:spPr>
        <p:txBody>
          <a:bodyPr wrap="square" rtlCol="0" anchor="t"/>
          <a:lstStyle/>
          <a:p>
            <a:pPr indent="0" marL="0">
              <a:lnSpc>
                <a:spcPct val="105000"/>
              </a:lnSpc>
              <a:buNone/>
            </a:pPr>
            <a:r>
              <a:rPr lang="en-US" sz="1050" dirty="0">
                <a:solidFill>
                  <a:srgbClr val="1C2B31"/>
                </a:solidFill>
                <a:latin typeface="Calibri" pitchFamily="34" charset="0"/>
                <a:ea typeface="Calibri" pitchFamily="34" charset="-122"/>
                <a:cs typeface="Calibri" pitchFamily="34" charset="-120"/>
              </a:rPr>
              <a:t>License to other municipalities and expand into new inspection sectors</a:t>
            </a:r>
            <a:endParaRPr lang="en-US" sz="1050" dirty="0"/>
          </a:p>
        </p:txBody>
      </p:sp>
      <p:sp>
        <p:nvSpPr>
          <p:cNvPr id="47" name="Shape 42"/>
          <p:cNvSpPr/>
          <p:nvPr/>
        </p:nvSpPr>
        <p:spPr>
          <a:xfrm>
            <a:off x="9015984" y="4956048"/>
            <a:ext cx="2770632" cy="384048"/>
          </a:xfrm>
          <a:prstGeom prst="roundRect">
            <a:avLst>
              <a:gd name="adj" fmla="val 50000"/>
            </a:avLst>
          </a:prstGeom>
          <a:solidFill>
            <a:srgbClr val="D8ECEA"/>
          </a:solidFill>
          <a:ln/>
        </p:spPr>
      </p:sp>
      <p:sp>
        <p:nvSpPr>
          <p:cNvPr id="48" name="Text 43"/>
          <p:cNvSpPr/>
          <p:nvPr/>
        </p:nvSpPr>
        <p:spPr>
          <a:xfrm>
            <a:off x="9015984" y="4956048"/>
            <a:ext cx="2770632" cy="384048"/>
          </a:xfrm>
          <a:prstGeom prst="rect">
            <a:avLst/>
          </a:prstGeom>
          <a:noFill/>
          <a:ln/>
        </p:spPr>
        <p:txBody>
          <a:bodyPr wrap="square" rtlCol="0" anchor="ctr"/>
          <a:lstStyle/>
          <a:p>
            <a:pPr algn="ctr" indent="0" marL="0">
              <a:buNone/>
            </a:pPr>
            <a:r>
              <a:rPr lang="en-US" sz="1100" b="1" dirty="0">
                <a:solidFill>
                  <a:srgbClr val="14323B"/>
                </a:solidFill>
                <a:latin typeface="Calibri" pitchFamily="34" charset="0"/>
                <a:ea typeface="Calibri" pitchFamily="34" charset="-122"/>
                <a:cs typeface="Calibri" pitchFamily="34" charset="-120"/>
              </a:rPr>
              <a:t>★  First-mover advantage locally</a:t>
            </a:r>
            <a:endParaRPr lang="en-US" sz="1100" dirty="0"/>
          </a:p>
        </p:txBody>
      </p:sp>
      <p:sp>
        <p:nvSpPr>
          <p:cNvPr id="49" name="Shape 44"/>
          <p:cNvSpPr/>
          <p:nvPr/>
        </p:nvSpPr>
        <p:spPr>
          <a:xfrm>
            <a:off x="640080" y="5650992"/>
            <a:ext cx="10908792" cy="1170432"/>
          </a:xfrm>
          <a:prstGeom prst="roundRect">
            <a:avLst>
              <a:gd name="adj" fmla="val 9375"/>
            </a:avLst>
          </a:prstGeom>
          <a:solidFill>
            <a:srgbClr val="D8ECEA"/>
          </a:solidFill>
          <a:ln/>
        </p:spPr>
      </p:sp>
      <p:sp>
        <p:nvSpPr>
          <p:cNvPr id="50" name="Text 45"/>
          <p:cNvSpPr/>
          <p:nvPr/>
        </p:nvSpPr>
        <p:spPr>
          <a:xfrm>
            <a:off x="640080" y="5742432"/>
            <a:ext cx="10908792" cy="237744"/>
          </a:xfrm>
          <a:prstGeom prst="rect">
            <a:avLst/>
          </a:prstGeom>
          <a:noFill/>
          <a:ln/>
        </p:spPr>
        <p:txBody>
          <a:bodyPr wrap="square" rtlCol="0" anchor="ctr"/>
          <a:lstStyle/>
          <a:p>
            <a:pPr algn="ctr" indent="0" marL="0">
              <a:buNone/>
            </a:pPr>
            <a:r>
              <a:rPr lang="en-US" sz="1100" b="1" spc="150" kern="0" dirty="0">
                <a:solidFill>
                  <a:srgbClr val="0B7A75"/>
                </a:solidFill>
                <a:latin typeface="Calibri" pitchFamily="34" charset="0"/>
                <a:ea typeface="Calibri" pitchFamily="34" charset="-122"/>
                <a:cs typeface="Calibri" pitchFamily="34" charset="-120"/>
              </a:rPr>
              <a:t>PROVEN ELSEWHERE</a:t>
            </a:r>
            <a:endParaRPr lang="en-US" sz="1100" dirty="0"/>
          </a:p>
        </p:txBody>
      </p:sp>
      <p:sp>
        <p:nvSpPr>
          <p:cNvPr id="51" name="Shape 46"/>
          <p:cNvSpPr/>
          <p:nvPr/>
        </p:nvSpPr>
        <p:spPr>
          <a:xfrm>
            <a:off x="6094476" y="6035040"/>
            <a:ext cx="12802" cy="640080"/>
          </a:xfrm>
          <a:prstGeom prst="rect">
            <a:avLst/>
          </a:prstGeom>
          <a:solidFill>
            <a:srgbClr val="A9CFCB"/>
          </a:solidFill>
          <a:ln/>
        </p:spPr>
      </p:sp>
      <p:sp>
        <p:nvSpPr>
          <p:cNvPr id="52" name="Text 47"/>
          <p:cNvSpPr/>
          <p:nvPr/>
        </p:nvSpPr>
        <p:spPr>
          <a:xfrm>
            <a:off x="640080" y="5980176"/>
            <a:ext cx="5422392" cy="457200"/>
          </a:xfrm>
          <a:prstGeom prst="rect">
            <a:avLst/>
          </a:prstGeom>
          <a:noFill/>
          <a:ln/>
        </p:spPr>
        <p:txBody>
          <a:bodyPr wrap="square" rtlCol="0" anchor="ctr"/>
          <a:lstStyle/>
          <a:p>
            <a:pPr algn="ctr" indent="0" marL="0">
              <a:buNone/>
            </a:pPr>
            <a:r>
              <a:rPr lang="en-US" sz="3000" b="1" dirty="0">
                <a:solidFill>
                  <a:srgbClr val="0B7A75"/>
                </a:solidFill>
                <a:latin typeface="Century Schoolbook" pitchFamily="34" charset="0"/>
                <a:ea typeface="Century Schoolbook" pitchFamily="34" charset="-122"/>
                <a:cs typeface="Century Schoolbook" pitchFamily="34" charset="-120"/>
              </a:rPr>
              <a:t>13.1%</a:t>
            </a:r>
            <a:endParaRPr lang="en-US" sz="3000" dirty="0"/>
          </a:p>
        </p:txBody>
      </p:sp>
      <p:sp>
        <p:nvSpPr>
          <p:cNvPr id="53" name="Text 48"/>
          <p:cNvSpPr/>
          <p:nvPr/>
        </p:nvSpPr>
        <p:spPr>
          <a:xfrm>
            <a:off x="1005840" y="6437376"/>
            <a:ext cx="4690872" cy="347472"/>
          </a:xfrm>
          <a:prstGeom prst="rect">
            <a:avLst/>
          </a:prstGeom>
          <a:noFill/>
          <a:ln/>
        </p:spPr>
        <p:txBody>
          <a:bodyPr wrap="square" rtlCol="0" anchor="ctr"/>
          <a:lstStyle/>
          <a:p>
            <a:pPr algn="ctr" indent="0" marL="0">
              <a:lnSpc>
                <a:spcPct val="105000"/>
              </a:lnSpc>
              <a:buNone/>
            </a:pPr>
            <a:r>
              <a:rPr lang="en-US" sz="1000" dirty="0">
                <a:solidFill>
                  <a:srgbClr val="1C2B31"/>
                </a:solidFill>
                <a:latin typeface="Calibri" pitchFamily="34" charset="0"/>
                <a:ea typeface="Calibri" pitchFamily="34" charset="-122"/>
                <a:cs typeface="Calibri" pitchFamily="34" charset="-120"/>
              </a:rPr>
              <a:t>drop in foodborne-illness hospitalizations — Los Angeles grade-card system</a:t>
            </a:r>
            <a:endParaRPr lang="en-US" sz="1000" dirty="0"/>
          </a:p>
        </p:txBody>
      </p:sp>
      <p:sp>
        <p:nvSpPr>
          <p:cNvPr id="54" name="Text 49"/>
          <p:cNvSpPr/>
          <p:nvPr/>
        </p:nvSpPr>
        <p:spPr>
          <a:xfrm>
            <a:off x="6126480" y="5980176"/>
            <a:ext cx="5422392" cy="457200"/>
          </a:xfrm>
          <a:prstGeom prst="rect">
            <a:avLst/>
          </a:prstGeom>
          <a:noFill/>
          <a:ln/>
        </p:spPr>
        <p:txBody>
          <a:bodyPr wrap="square" rtlCol="0" anchor="ctr"/>
          <a:lstStyle/>
          <a:p>
            <a:pPr algn="ctr" indent="0" marL="0">
              <a:buNone/>
            </a:pPr>
            <a:r>
              <a:rPr lang="en-US" sz="3000" b="1" dirty="0">
                <a:solidFill>
                  <a:srgbClr val="E8A33D"/>
                </a:solidFill>
                <a:latin typeface="Century Schoolbook" pitchFamily="34" charset="0"/>
                <a:ea typeface="Century Schoolbook" pitchFamily="34" charset="-122"/>
                <a:cs typeface="Century Schoolbook" pitchFamily="34" charset="-120"/>
              </a:rPr>
              <a:t>73%+</a:t>
            </a:r>
            <a:endParaRPr lang="en-US" sz="3000" dirty="0"/>
          </a:p>
        </p:txBody>
      </p:sp>
      <p:sp>
        <p:nvSpPr>
          <p:cNvPr id="55" name="Text 50"/>
          <p:cNvSpPr/>
          <p:nvPr/>
        </p:nvSpPr>
        <p:spPr>
          <a:xfrm>
            <a:off x="6492240" y="6437376"/>
            <a:ext cx="4690872" cy="347472"/>
          </a:xfrm>
          <a:prstGeom prst="rect">
            <a:avLst/>
          </a:prstGeom>
          <a:noFill/>
          <a:ln/>
        </p:spPr>
        <p:txBody>
          <a:bodyPr wrap="square" rtlCol="0" anchor="ctr"/>
          <a:lstStyle/>
          <a:p>
            <a:pPr algn="ctr" indent="0" marL="0">
              <a:lnSpc>
                <a:spcPct val="105000"/>
              </a:lnSpc>
              <a:buNone/>
            </a:pPr>
            <a:r>
              <a:rPr lang="en-US" sz="1000" dirty="0">
                <a:solidFill>
                  <a:srgbClr val="1C2B31"/>
                </a:solidFill>
                <a:latin typeface="Calibri" pitchFamily="34" charset="0"/>
                <a:ea typeface="Calibri" pitchFamily="34" charset="-122"/>
                <a:cs typeface="Calibri" pitchFamily="34" charset="-120"/>
              </a:rPr>
              <a:t>compliance improvement across 6,900+ QR-tagged venues — Abu Dhabi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4000" b="1" dirty="0">
                <a:solidFill>
                  <a:srgbClr val="14323B"/>
                </a:solidFill>
                <a:latin typeface="Century Schoolbook" pitchFamily="34" charset="0"/>
                <a:ea typeface="Century Schoolbook" pitchFamily="34" charset="-122"/>
                <a:cs typeface="Century Schoolbook" pitchFamily="34" charset="-120"/>
              </a:rPr>
              <a:t>Why Aman Wins</a:t>
            </a:r>
            <a:endParaRPr lang="en-US" sz="4000" dirty="0"/>
          </a:p>
        </p:txBody>
      </p:sp>
      <p:sp>
        <p:nvSpPr>
          <p:cNvPr id="3" name="Text 1"/>
          <p:cNvSpPr/>
          <p:nvPr/>
        </p:nvSpPr>
        <p:spPr>
          <a:xfrm>
            <a:off x="658368" y="1170432"/>
            <a:ext cx="10972800" cy="457200"/>
          </a:xfrm>
          <a:prstGeom prst="rect">
            <a:avLst/>
          </a:prstGeom>
          <a:noFill/>
          <a:ln/>
        </p:spPr>
        <p:txBody>
          <a:bodyPr wrap="square" rtlCol="0" anchor="ctr"/>
          <a:lstStyle/>
          <a:p>
            <a:pPr indent="0" marL="0">
              <a:buNone/>
            </a:pPr>
            <a:r>
              <a:rPr lang="en-US" sz="1700" dirty="0">
                <a:solidFill>
                  <a:srgbClr val="5E7178"/>
                </a:solidFill>
                <a:latin typeface="Calibri" pitchFamily="34" charset="0"/>
                <a:ea typeface="Calibri" pitchFamily="34" charset="-122"/>
                <a:cs typeface="Calibri" pitchFamily="34" charset="-120"/>
              </a:rPr>
              <a:t>Real impact, actually built, and ready for the next municipality.</a:t>
            </a:r>
            <a:endParaRPr lang="en-US" sz="1700" dirty="0"/>
          </a:p>
        </p:txBody>
      </p:sp>
      <p:sp>
        <p:nvSpPr>
          <p:cNvPr id="4" name="Shape 2"/>
          <p:cNvSpPr/>
          <p:nvPr/>
        </p:nvSpPr>
        <p:spPr>
          <a:xfrm>
            <a:off x="640080" y="1874520"/>
            <a:ext cx="3611880" cy="1783080"/>
          </a:xfrm>
          <a:prstGeom prst="roundRect">
            <a:avLst>
              <a:gd name="adj" fmla="val 5128"/>
            </a:avLst>
          </a:prstGeom>
          <a:solidFill>
            <a:srgbClr val="D8ECEA"/>
          </a:solidFill>
          <a:ln/>
          <a:effectLst>
            <a:outerShdw sx="100000" sy="100000" kx="0" ky="0" algn="bl" rotWithShape="0" blurRad="76200" dist="25400" dir="5400000">
              <a:srgbClr val="BBBBBB">
                <a:alpha val="40000"/>
              </a:srgbClr>
            </a:outerShdw>
          </a:effectLst>
        </p:spPr>
      </p:sp>
      <p:sp>
        <p:nvSpPr>
          <p:cNvPr id="5" name="Text 3"/>
          <p:cNvSpPr/>
          <p:nvPr/>
        </p:nvSpPr>
        <p:spPr>
          <a:xfrm>
            <a:off x="640080" y="2020824"/>
            <a:ext cx="3611880" cy="566928"/>
          </a:xfrm>
          <a:prstGeom prst="rect">
            <a:avLst/>
          </a:prstGeom>
          <a:noFill/>
          <a:ln/>
        </p:spPr>
        <p:txBody>
          <a:bodyPr wrap="square" rtlCol="0" anchor="ctr"/>
          <a:lstStyle/>
          <a:p>
            <a:pPr algn="ctr" indent="0" marL="0">
              <a:buNone/>
            </a:pPr>
            <a:r>
              <a:rPr lang="en-US" sz="3400" b="1" dirty="0">
                <a:solidFill>
                  <a:srgbClr val="E8A33D"/>
                </a:solidFill>
                <a:latin typeface="Century Schoolbook" pitchFamily="34" charset="0"/>
                <a:ea typeface="Century Schoolbook" pitchFamily="34" charset="-122"/>
                <a:cs typeface="Century Schoolbook" pitchFamily="34" charset="-120"/>
              </a:rPr>
              <a:t>92%</a:t>
            </a:r>
            <a:endParaRPr lang="en-US" sz="3400" dirty="0"/>
          </a:p>
        </p:txBody>
      </p:sp>
      <p:sp>
        <p:nvSpPr>
          <p:cNvPr id="6" name="Text 4"/>
          <p:cNvSpPr/>
          <p:nvPr/>
        </p:nvSpPr>
        <p:spPr>
          <a:xfrm>
            <a:off x="859536" y="2624328"/>
            <a:ext cx="3172968" cy="548640"/>
          </a:xfrm>
          <a:prstGeom prst="rect">
            <a:avLst/>
          </a:prstGeom>
          <a:noFill/>
          <a:ln/>
        </p:spPr>
        <p:txBody>
          <a:bodyPr wrap="square" rtlCol="0" anchor="ctr"/>
          <a:lstStyle/>
          <a:p>
            <a:pPr algn="ctr" indent="0" marL="0">
              <a:lnSpc>
                <a:spcPct val="110000"/>
              </a:lnSpc>
              <a:buNone/>
            </a:pPr>
            <a:r>
              <a:rPr lang="en-US" sz="1250" b="1" dirty="0">
                <a:solidFill>
                  <a:srgbClr val="14323B"/>
                </a:solidFill>
                <a:latin typeface="Calibri" pitchFamily="34" charset="0"/>
                <a:ea typeface="Calibri" pitchFamily="34" charset="-122"/>
                <a:cs typeface="Calibri" pitchFamily="34" charset="-120"/>
              </a:rPr>
              <a:t>of people we surveyed said they'd use Aman</a:t>
            </a:r>
            <a:endParaRPr lang="en-US" sz="1250" dirty="0"/>
          </a:p>
        </p:txBody>
      </p:sp>
      <p:sp>
        <p:nvSpPr>
          <p:cNvPr id="7" name="Text 5"/>
          <p:cNvSpPr/>
          <p:nvPr/>
        </p:nvSpPr>
        <p:spPr>
          <a:xfrm>
            <a:off x="640080" y="3346704"/>
            <a:ext cx="3611880" cy="256032"/>
          </a:xfrm>
          <a:prstGeom prst="rect">
            <a:avLst/>
          </a:prstGeom>
          <a:noFill/>
          <a:ln/>
        </p:spPr>
        <p:txBody>
          <a:bodyPr wrap="square" rtlCol="0" anchor="ctr"/>
          <a:lstStyle/>
          <a:p>
            <a:pPr algn="ctr" indent="0" marL="0">
              <a:buNone/>
            </a:pPr>
            <a:r>
              <a:rPr lang="en-US" sz="950" i="1" dirty="0">
                <a:solidFill>
                  <a:srgbClr val="5E7178"/>
                </a:solidFill>
                <a:latin typeface="Calibri" pitchFamily="34" charset="0"/>
                <a:ea typeface="Calibri" pitchFamily="34" charset="-122"/>
                <a:cs typeface="Calibri" pitchFamily="34" charset="-120"/>
              </a:rPr>
              <a:t>Quick survey of 50 people</a:t>
            </a:r>
            <a:endParaRPr lang="en-US" sz="950" dirty="0"/>
          </a:p>
        </p:txBody>
      </p:sp>
      <p:sp>
        <p:nvSpPr>
          <p:cNvPr id="8" name="Shape 6"/>
          <p:cNvSpPr/>
          <p:nvPr/>
        </p:nvSpPr>
        <p:spPr>
          <a:xfrm>
            <a:off x="4489704" y="1874520"/>
            <a:ext cx="3611880" cy="1783080"/>
          </a:xfrm>
          <a:prstGeom prst="roundRect">
            <a:avLst>
              <a:gd name="adj" fmla="val 5128"/>
            </a:avLst>
          </a:prstGeom>
          <a:solidFill>
            <a:srgbClr val="F4F7F6"/>
          </a:solidFill>
          <a:ln/>
          <a:effectLst>
            <a:outerShdw sx="100000" sy="100000" kx="0" ky="0" algn="bl" rotWithShape="0" blurRad="76200" dist="25400" dir="5400000">
              <a:srgbClr val="BBBBBB">
                <a:alpha val="40000"/>
              </a:srgbClr>
            </a:outerShdw>
          </a:effectLst>
        </p:spPr>
      </p:sp>
      <p:sp>
        <p:nvSpPr>
          <p:cNvPr id="9" name="Shape 7"/>
          <p:cNvSpPr/>
          <p:nvPr/>
        </p:nvSpPr>
        <p:spPr>
          <a:xfrm>
            <a:off x="4745736" y="2148840"/>
            <a:ext cx="822960" cy="822960"/>
          </a:xfrm>
          <a:prstGeom prst="ellipse">
            <a:avLst/>
          </a:prstGeom>
          <a:solidFill>
            <a:srgbClr val="E8A33D"/>
          </a:solidFill>
          <a:ln/>
        </p:spPr>
      </p:sp>
      <p:pic>
        <p:nvPicPr>
          <p:cNvPr id="10" name="Image 0" descr="icons/bolt_dark.png">    </p:cNvPr>
          <p:cNvPicPr>
            <a:picLocks noChangeAspect="1"/>
          </p:cNvPicPr>
          <p:nvPr/>
        </p:nvPicPr>
        <p:blipFill>
          <a:blip r:embed="rId1"/>
          <a:stretch>
            <a:fillRect/>
          </a:stretch>
        </p:blipFill>
        <p:spPr>
          <a:xfrm>
            <a:off x="4959706" y="2362810"/>
            <a:ext cx="395021" cy="395021"/>
          </a:xfrm>
          <a:prstGeom prst="rect">
            <a:avLst/>
          </a:prstGeom>
        </p:spPr>
      </p:pic>
      <p:sp>
        <p:nvSpPr>
          <p:cNvPr id="11" name="Text 8"/>
          <p:cNvSpPr/>
          <p:nvPr/>
        </p:nvSpPr>
        <p:spPr>
          <a:xfrm>
            <a:off x="5696712" y="2167128"/>
            <a:ext cx="2240280" cy="777240"/>
          </a:xfrm>
          <a:prstGeom prst="rect">
            <a:avLst/>
          </a:prstGeom>
          <a:noFill/>
          <a:ln/>
        </p:spPr>
        <p:txBody>
          <a:bodyPr wrap="square" rtlCol="0" anchor="ctr"/>
          <a:lstStyle/>
          <a:p>
            <a:pPr indent="0" marL="0">
              <a:lnSpc>
                <a:spcPct val="100000"/>
              </a:lnSpc>
              <a:buNone/>
            </a:pPr>
            <a:r>
              <a:rPr lang="en-US" sz="1650" b="1" dirty="0">
                <a:solidFill>
                  <a:srgbClr val="14323B"/>
                </a:solidFill>
                <a:latin typeface="Century Schoolbook" pitchFamily="34" charset="0"/>
                <a:ea typeface="Century Schoolbook" pitchFamily="34" charset="-122"/>
                <a:cs typeface="Century Schoolbook" pitchFamily="34" charset="-120"/>
              </a:rPr>
              <a:t>Working MVP</a:t>
            </a:r>
            <a:endParaRPr lang="en-US" sz="1650" dirty="0"/>
          </a:p>
        </p:txBody>
      </p:sp>
      <p:sp>
        <p:nvSpPr>
          <p:cNvPr id="12" name="Text 9"/>
          <p:cNvSpPr/>
          <p:nvPr/>
        </p:nvSpPr>
        <p:spPr>
          <a:xfrm>
            <a:off x="4764024" y="2971800"/>
            <a:ext cx="3108960" cy="548640"/>
          </a:xfrm>
          <a:prstGeom prst="rect">
            <a:avLst/>
          </a:prstGeom>
          <a:noFill/>
          <a:ln/>
        </p:spPr>
        <p:txBody>
          <a:bodyPr wrap="square" rtlCol="0" anchor="ctr"/>
          <a:lstStyle/>
          <a:p>
            <a:pPr indent="0" marL="0">
              <a:lnSpc>
                <a:spcPct val="110000"/>
              </a:lnSpc>
              <a:buNone/>
            </a:pPr>
            <a:r>
              <a:rPr lang="en-US" sz="1300" dirty="0">
                <a:solidFill>
                  <a:srgbClr val="1C2B31"/>
                </a:solidFill>
                <a:latin typeface="Calibri" pitchFamily="34" charset="0"/>
                <a:ea typeface="Calibri" pitchFamily="34" charset="-122"/>
                <a:cs typeface="Calibri" pitchFamily="34" charset="-120"/>
              </a:rPr>
              <a:t>190 automated tests passing — not slideware</a:t>
            </a:r>
            <a:endParaRPr lang="en-US" sz="1300" dirty="0"/>
          </a:p>
        </p:txBody>
      </p:sp>
      <p:sp>
        <p:nvSpPr>
          <p:cNvPr id="13" name="Shape 10"/>
          <p:cNvSpPr/>
          <p:nvPr/>
        </p:nvSpPr>
        <p:spPr>
          <a:xfrm>
            <a:off x="8339328" y="1874520"/>
            <a:ext cx="3611880" cy="1783080"/>
          </a:xfrm>
          <a:prstGeom prst="roundRect">
            <a:avLst>
              <a:gd name="adj" fmla="val 5128"/>
            </a:avLst>
          </a:prstGeom>
          <a:solidFill>
            <a:srgbClr val="F4F7F6"/>
          </a:solidFill>
          <a:ln/>
          <a:effectLst>
            <a:outerShdw sx="100000" sy="100000" kx="0" ky="0" algn="bl" rotWithShape="0" blurRad="76200" dist="25400" dir="5400000">
              <a:srgbClr val="BBBBBB">
                <a:alpha val="40000"/>
              </a:srgbClr>
            </a:outerShdw>
          </a:effectLst>
        </p:spPr>
      </p:sp>
      <p:sp>
        <p:nvSpPr>
          <p:cNvPr id="14" name="Shape 11"/>
          <p:cNvSpPr/>
          <p:nvPr/>
        </p:nvSpPr>
        <p:spPr>
          <a:xfrm>
            <a:off x="8595360" y="2148840"/>
            <a:ext cx="822960" cy="822960"/>
          </a:xfrm>
          <a:prstGeom prst="ellipse">
            <a:avLst/>
          </a:prstGeom>
          <a:solidFill>
            <a:srgbClr val="0B7A75"/>
          </a:solidFill>
          <a:ln/>
        </p:spPr>
      </p:sp>
      <p:pic>
        <p:nvPicPr>
          <p:cNvPr id="15" name="Image 1" descr="icons/wifi_white.png">    </p:cNvPr>
          <p:cNvPicPr>
            <a:picLocks noChangeAspect="1"/>
          </p:cNvPicPr>
          <p:nvPr/>
        </p:nvPicPr>
        <p:blipFill>
          <a:blip r:embed="rId2"/>
          <a:stretch>
            <a:fillRect/>
          </a:stretch>
        </p:blipFill>
        <p:spPr>
          <a:xfrm>
            <a:off x="8809330" y="2362810"/>
            <a:ext cx="395021" cy="395021"/>
          </a:xfrm>
          <a:prstGeom prst="rect">
            <a:avLst/>
          </a:prstGeom>
        </p:spPr>
      </p:pic>
      <p:sp>
        <p:nvSpPr>
          <p:cNvPr id="16" name="Text 12"/>
          <p:cNvSpPr/>
          <p:nvPr/>
        </p:nvSpPr>
        <p:spPr>
          <a:xfrm>
            <a:off x="9546336" y="2167128"/>
            <a:ext cx="2240280" cy="777240"/>
          </a:xfrm>
          <a:prstGeom prst="rect">
            <a:avLst/>
          </a:prstGeom>
          <a:noFill/>
          <a:ln/>
        </p:spPr>
        <p:txBody>
          <a:bodyPr wrap="square" rtlCol="0" anchor="ctr"/>
          <a:lstStyle/>
          <a:p>
            <a:pPr indent="0" marL="0">
              <a:lnSpc>
                <a:spcPct val="100000"/>
              </a:lnSpc>
              <a:buNone/>
            </a:pPr>
            <a:r>
              <a:rPr lang="en-US" sz="1650" b="1" dirty="0">
                <a:solidFill>
                  <a:srgbClr val="14323B"/>
                </a:solidFill>
                <a:latin typeface="Century Schoolbook" pitchFamily="34" charset="0"/>
                <a:ea typeface="Century Schoolbook" pitchFamily="34" charset="-122"/>
                <a:cs typeface="Century Schoolbook" pitchFamily="34" charset="-120"/>
              </a:rPr>
              <a:t>Offline-first</a:t>
            </a:r>
            <a:endParaRPr lang="en-US" sz="1650" dirty="0"/>
          </a:p>
        </p:txBody>
      </p:sp>
      <p:sp>
        <p:nvSpPr>
          <p:cNvPr id="17" name="Text 13"/>
          <p:cNvSpPr/>
          <p:nvPr/>
        </p:nvSpPr>
        <p:spPr>
          <a:xfrm>
            <a:off x="8613648" y="2971800"/>
            <a:ext cx="3108960" cy="548640"/>
          </a:xfrm>
          <a:prstGeom prst="rect">
            <a:avLst/>
          </a:prstGeom>
          <a:noFill/>
          <a:ln/>
        </p:spPr>
        <p:txBody>
          <a:bodyPr wrap="square" rtlCol="0" anchor="ctr"/>
          <a:lstStyle/>
          <a:p>
            <a:pPr indent="0" marL="0">
              <a:lnSpc>
                <a:spcPct val="110000"/>
              </a:lnSpc>
              <a:buNone/>
            </a:pPr>
            <a:r>
              <a:rPr lang="en-US" sz="1300" dirty="0">
                <a:solidFill>
                  <a:srgbClr val="1C2B31"/>
                </a:solidFill>
                <a:latin typeface="Calibri" pitchFamily="34" charset="0"/>
                <a:ea typeface="Calibri" pitchFamily="34" charset="-122"/>
                <a:cs typeface="Calibri" pitchFamily="34" charset="-120"/>
              </a:rPr>
              <a:t>Inspector works a full day with no signal</a:t>
            </a:r>
            <a:endParaRPr lang="en-US" sz="1300" dirty="0"/>
          </a:p>
        </p:txBody>
      </p:sp>
      <p:sp>
        <p:nvSpPr>
          <p:cNvPr id="18" name="Shape 14"/>
          <p:cNvSpPr/>
          <p:nvPr/>
        </p:nvSpPr>
        <p:spPr>
          <a:xfrm>
            <a:off x="640080" y="3913632"/>
            <a:ext cx="3611880" cy="1783080"/>
          </a:xfrm>
          <a:prstGeom prst="roundRect">
            <a:avLst>
              <a:gd name="adj" fmla="val 5128"/>
            </a:avLst>
          </a:prstGeom>
          <a:solidFill>
            <a:srgbClr val="F4F7F6"/>
          </a:solidFill>
          <a:ln/>
          <a:effectLst>
            <a:outerShdw sx="100000" sy="100000" kx="0" ky="0" algn="bl" rotWithShape="0" blurRad="76200" dist="25400" dir="5400000">
              <a:srgbClr val="BBBBBB">
                <a:alpha val="40000"/>
              </a:srgbClr>
            </a:outerShdw>
          </a:effectLst>
        </p:spPr>
      </p:sp>
      <p:sp>
        <p:nvSpPr>
          <p:cNvPr id="19" name="Shape 15"/>
          <p:cNvSpPr/>
          <p:nvPr/>
        </p:nvSpPr>
        <p:spPr>
          <a:xfrm>
            <a:off x="896112" y="4187952"/>
            <a:ext cx="822960" cy="822960"/>
          </a:xfrm>
          <a:prstGeom prst="ellipse">
            <a:avLst/>
          </a:prstGeom>
          <a:solidFill>
            <a:srgbClr val="0B7A75"/>
          </a:solidFill>
          <a:ln/>
        </p:spPr>
      </p:sp>
      <p:pic>
        <p:nvPicPr>
          <p:cNvPr id="20" name="Image 2" descr="icons/eye_white.png">    </p:cNvPr>
          <p:cNvPicPr>
            <a:picLocks noChangeAspect="1"/>
          </p:cNvPicPr>
          <p:nvPr/>
        </p:nvPicPr>
        <p:blipFill>
          <a:blip r:embed="rId3"/>
          <a:stretch>
            <a:fillRect/>
          </a:stretch>
        </p:blipFill>
        <p:spPr>
          <a:xfrm>
            <a:off x="1110082" y="4401922"/>
            <a:ext cx="395021" cy="395021"/>
          </a:xfrm>
          <a:prstGeom prst="rect">
            <a:avLst/>
          </a:prstGeom>
        </p:spPr>
      </p:pic>
      <p:sp>
        <p:nvSpPr>
          <p:cNvPr id="21" name="Text 16"/>
          <p:cNvSpPr/>
          <p:nvPr/>
        </p:nvSpPr>
        <p:spPr>
          <a:xfrm>
            <a:off x="1847088" y="4206240"/>
            <a:ext cx="2240280" cy="777240"/>
          </a:xfrm>
          <a:prstGeom prst="rect">
            <a:avLst/>
          </a:prstGeom>
          <a:noFill/>
          <a:ln/>
        </p:spPr>
        <p:txBody>
          <a:bodyPr wrap="square" rtlCol="0" anchor="ctr"/>
          <a:lstStyle/>
          <a:p>
            <a:pPr indent="0" marL="0">
              <a:lnSpc>
                <a:spcPct val="100000"/>
              </a:lnSpc>
              <a:buNone/>
            </a:pPr>
            <a:r>
              <a:rPr lang="en-US" sz="1650" b="1" dirty="0">
                <a:solidFill>
                  <a:srgbClr val="14323B"/>
                </a:solidFill>
                <a:latin typeface="Century Schoolbook" pitchFamily="34" charset="0"/>
                <a:ea typeface="Century Schoolbook" pitchFamily="34" charset="-122"/>
                <a:cs typeface="Century Schoolbook" pitchFamily="34" charset="-120"/>
              </a:rPr>
              <a:t>Full transparency</a:t>
            </a:r>
            <a:endParaRPr lang="en-US" sz="1650" dirty="0"/>
          </a:p>
        </p:txBody>
      </p:sp>
      <p:sp>
        <p:nvSpPr>
          <p:cNvPr id="22" name="Text 17"/>
          <p:cNvSpPr/>
          <p:nvPr/>
        </p:nvSpPr>
        <p:spPr>
          <a:xfrm>
            <a:off x="914400" y="5010912"/>
            <a:ext cx="3108960" cy="548640"/>
          </a:xfrm>
          <a:prstGeom prst="rect">
            <a:avLst/>
          </a:prstGeom>
          <a:noFill/>
          <a:ln/>
        </p:spPr>
        <p:txBody>
          <a:bodyPr wrap="square" rtlCol="0" anchor="ctr"/>
          <a:lstStyle/>
          <a:p>
            <a:pPr indent="0" marL="0">
              <a:lnSpc>
                <a:spcPct val="110000"/>
              </a:lnSpc>
              <a:buNone/>
            </a:pPr>
            <a:r>
              <a:rPr lang="en-US" sz="1300" dirty="0">
                <a:solidFill>
                  <a:srgbClr val="1C2B31"/>
                </a:solidFill>
                <a:latin typeface="Calibri" pitchFamily="34" charset="0"/>
                <a:ea typeface="Calibri" pitchFamily="34" charset="-122"/>
                <a:cs typeface="Calibri" pitchFamily="34" charset="-120"/>
              </a:rPr>
              <a:t>Every grade public; every decision logged</a:t>
            </a:r>
            <a:endParaRPr lang="en-US" sz="1300" dirty="0"/>
          </a:p>
        </p:txBody>
      </p:sp>
      <p:sp>
        <p:nvSpPr>
          <p:cNvPr id="23" name="Shape 18"/>
          <p:cNvSpPr/>
          <p:nvPr/>
        </p:nvSpPr>
        <p:spPr>
          <a:xfrm>
            <a:off x="4489704" y="3913632"/>
            <a:ext cx="3611880" cy="1783080"/>
          </a:xfrm>
          <a:prstGeom prst="roundRect">
            <a:avLst>
              <a:gd name="adj" fmla="val 5128"/>
            </a:avLst>
          </a:prstGeom>
          <a:solidFill>
            <a:srgbClr val="F4F7F6"/>
          </a:solidFill>
          <a:ln/>
          <a:effectLst>
            <a:outerShdw sx="100000" sy="100000" kx="0" ky="0" algn="bl" rotWithShape="0" blurRad="76200" dist="25400" dir="5400000">
              <a:srgbClr val="BBBBBB">
                <a:alpha val="40000"/>
              </a:srgbClr>
            </a:outerShdw>
          </a:effectLst>
        </p:spPr>
      </p:sp>
      <p:sp>
        <p:nvSpPr>
          <p:cNvPr id="24" name="Shape 19"/>
          <p:cNvSpPr/>
          <p:nvPr/>
        </p:nvSpPr>
        <p:spPr>
          <a:xfrm>
            <a:off x="4745736" y="4187952"/>
            <a:ext cx="822960" cy="822960"/>
          </a:xfrm>
          <a:prstGeom prst="ellipse">
            <a:avLst/>
          </a:prstGeom>
          <a:solidFill>
            <a:srgbClr val="E8A33D"/>
          </a:solidFill>
          <a:ln/>
        </p:spPr>
      </p:sp>
      <p:pic>
        <p:nvPicPr>
          <p:cNvPr id="25" name="Image 3" descr="icons/handshake_dark.png">    </p:cNvPr>
          <p:cNvPicPr>
            <a:picLocks noChangeAspect="1"/>
          </p:cNvPicPr>
          <p:nvPr/>
        </p:nvPicPr>
        <p:blipFill>
          <a:blip r:embed="rId4"/>
          <a:stretch>
            <a:fillRect/>
          </a:stretch>
        </p:blipFill>
        <p:spPr>
          <a:xfrm>
            <a:off x="4959706" y="4401922"/>
            <a:ext cx="395021" cy="395021"/>
          </a:xfrm>
          <a:prstGeom prst="rect">
            <a:avLst/>
          </a:prstGeom>
        </p:spPr>
      </p:pic>
      <p:sp>
        <p:nvSpPr>
          <p:cNvPr id="26" name="Text 20"/>
          <p:cNvSpPr/>
          <p:nvPr/>
        </p:nvSpPr>
        <p:spPr>
          <a:xfrm>
            <a:off x="5696712" y="4206240"/>
            <a:ext cx="2240280" cy="777240"/>
          </a:xfrm>
          <a:prstGeom prst="rect">
            <a:avLst/>
          </a:prstGeom>
          <a:noFill/>
          <a:ln/>
        </p:spPr>
        <p:txBody>
          <a:bodyPr wrap="square" rtlCol="0" anchor="ctr"/>
          <a:lstStyle/>
          <a:p>
            <a:pPr indent="0" marL="0">
              <a:lnSpc>
                <a:spcPct val="100000"/>
              </a:lnSpc>
              <a:buNone/>
            </a:pPr>
            <a:r>
              <a:rPr lang="en-US" sz="1650" b="1" dirty="0">
                <a:solidFill>
                  <a:srgbClr val="14323B"/>
                </a:solidFill>
                <a:latin typeface="Century Schoolbook" pitchFamily="34" charset="0"/>
                <a:ea typeface="Century Schoolbook" pitchFamily="34" charset="-122"/>
                <a:cs typeface="Century Schoolbook" pitchFamily="34" charset="-120"/>
              </a:rPr>
              <a:t>Partnership model</a:t>
            </a:r>
            <a:endParaRPr lang="en-US" sz="1650" dirty="0"/>
          </a:p>
        </p:txBody>
      </p:sp>
      <p:sp>
        <p:nvSpPr>
          <p:cNvPr id="27" name="Text 21"/>
          <p:cNvSpPr/>
          <p:nvPr/>
        </p:nvSpPr>
        <p:spPr>
          <a:xfrm>
            <a:off x="4764024" y="5010912"/>
            <a:ext cx="3108960" cy="548640"/>
          </a:xfrm>
          <a:prstGeom prst="rect">
            <a:avLst/>
          </a:prstGeom>
          <a:noFill/>
          <a:ln/>
        </p:spPr>
        <p:txBody>
          <a:bodyPr wrap="square" rtlCol="0" anchor="ctr"/>
          <a:lstStyle/>
          <a:p>
            <a:pPr indent="0" marL="0">
              <a:lnSpc>
                <a:spcPct val="110000"/>
              </a:lnSpc>
              <a:buNone/>
            </a:pPr>
            <a:r>
              <a:rPr lang="en-US" sz="1300" dirty="0">
                <a:solidFill>
                  <a:srgbClr val="1C2B31"/>
                </a:solidFill>
                <a:latin typeface="Calibri" pitchFamily="34" charset="0"/>
                <a:ea typeface="Calibri" pitchFamily="34" charset="-122"/>
                <a:cs typeface="Calibri" pitchFamily="34" charset="-120"/>
              </a:rPr>
              <a:t>Fix + prove, not just fine and shame</a:t>
            </a:r>
            <a:endParaRPr lang="en-US" sz="1300" dirty="0"/>
          </a:p>
        </p:txBody>
      </p:sp>
      <p:sp>
        <p:nvSpPr>
          <p:cNvPr id="28" name="Shape 22"/>
          <p:cNvSpPr/>
          <p:nvPr/>
        </p:nvSpPr>
        <p:spPr>
          <a:xfrm>
            <a:off x="8339328" y="3913632"/>
            <a:ext cx="3611880" cy="1783080"/>
          </a:xfrm>
          <a:prstGeom prst="roundRect">
            <a:avLst>
              <a:gd name="adj" fmla="val 5128"/>
            </a:avLst>
          </a:prstGeom>
          <a:solidFill>
            <a:srgbClr val="F4F7F6"/>
          </a:solidFill>
          <a:ln/>
          <a:effectLst>
            <a:outerShdw sx="100000" sy="100000" kx="0" ky="0" algn="bl" rotWithShape="0" blurRad="76200" dist="25400" dir="5400000">
              <a:srgbClr val="BBBBBB">
                <a:alpha val="40000"/>
              </a:srgbClr>
            </a:outerShdw>
          </a:effectLst>
        </p:spPr>
      </p:sp>
      <p:sp>
        <p:nvSpPr>
          <p:cNvPr id="29" name="Shape 23"/>
          <p:cNvSpPr/>
          <p:nvPr/>
        </p:nvSpPr>
        <p:spPr>
          <a:xfrm>
            <a:off x="8595360" y="4187952"/>
            <a:ext cx="822960" cy="822960"/>
          </a:xfrm>
          <a:prstGeom prst="ellipse">
            <a:avLst/>
          </a:prstGeom>
          <a:solidFill>
            <a:srgbClr val="0B7A75"/>
          </a:solidFill>
          <a:ln/>
        </p:spPr>
      </p:sp>
      <p:pic>
        <p:nvPicPr>
          <p:cNvPr id="30" name="Image 4" descr="icons/globe_white.png">    </p:cNvPr>
          <p:cNvPicPr>
            <a:picLocks noChangeAspect="1"/>
          </p:cNvPicPr>
          <p:nvPr/>
        </p:nvPicPr>
        <p:blipFill>
          <a:blip r:embed="rId5"/>
          <a:stretch>
            <a:fillRect/>
          </a:stretch>
        </p:blipFill>
        <p:spPr>
          <a:xfrm>
            <a:off x="8809330" y="4401922"/>
            <a:ext cx="395021" cy="395021"/>
          </a:xfrm>
          <a:prstGeom prst="rect">
            <a:avLst/>
          </a:prstGeom>
        </p:spPr>
      </p:pic>
      <p:sp>
        <p:nvSpPr>
          <p:cNvPr id="31" name="Text 24"/>
          <p:cNvSpPr/>
          <p:nvPr/>
        </p:nvSpPr>
        <p:spPr>
          <a:xfrm>
            <a:off x="9546336" y="4206240"/>
            <a:ext cx="2240280" cy="777240"/>
          </a:xfrm>
          <a:prstGeom prst="rect">
            <a:avLst/>
          </a:prstGeom>
          <a:noFill/>
          <a:ln/>
        </p:spPr>
        <p:txBody>
          <a:bodyPr wrap="square" rtlCol="0" anchor="ctr"/>
          <a:lstStyle/>
          <a:p>
            <a:pPr indent="0" marL="0">
              <a:lnSpc>
                <a:spcPct val="100000"/>
              </a:lnSpc>
              <a:buNone/>
            </a:pPr>
            <a:r>
              <a:rPr lang="en-US" sz="1650" b="1" dirty="0">
                <a:solidFill>
                  <a:srgbClr val="14323B"/>
                </a:solidFill>
                <a:latin typeface="Century Schoolbook" pitchFamily="34" charset="0"/>
                <a:ea typeface="Century Schoolbook" pitchFamily="34" charset="-122"/>
                <a:cs typeface="Century Schoolbook" pitchFamily="34" charset="-120"/>
              </a:rPr>
              <a:t>Runs on local servers</a:t>
            </a:r>
            <a:endParaRPr lang="en-US" sz="1650" dirty="0"/>
          </a:p>
        </p:txBody>
      </p:sp>
      <p:sp>
        <p:nvSpPr>
          <p:cNvPr id="32" name="Text 25"/>
          <p:cNvSpPr/>
          <p:nvPr/>
        </p:nvSpPr>
        <p:spPr>
          <a:xfrm>
            <a:off x="8613648" y="5010912"/>
            <a:ext cx="3108960" cy="548640"/>
          </a:xfrm>
          <a:prstGeom prst="rect">
            <a:avLst/>
          </a:prstGeom>
          <a:noFill/>
          <a:ln/>
        </p:spPr>
        <p:txBody>
          <a:bodyPr wrap="square" rtlCol="0" anchor="ctr"/>
          <a:lstStyle/>
          <a:p>
            <a:pPr indent="0" marL="0">
              <a:lnSpc>
                <a:spcPct val="110000"/>
              </a:lnSpc>
              <a:buNone/>
            </a:pPr>
            <a:r>
              <a:rPr lang="en-US" sz="1300" dirty="0">
                <a:solidFill>
                  <a:srgbClr val="1C2B31"/>
                </a:solidFill>
                <a:latin typeface="Calibri" pitchFamily="34" charset="0"/>
                <a:ea typeface="Calibri" pitchFamily="34" charset="-122"/>
                <a:cs typeface="Calibri" pitchFamily="34" charset="-120"/>
              </a:rPr>
              <a:t>No foreign cloud dependency — any municipality can deploy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148840"/>
            <a:ext cx="10332720" cy="822960"/>
          </a:xfrm>
          <a:prstGeom prst="rect">
            <a:avLst/>
          </a:prstGeom>
          <a:noFill/>
          <a:ln/>
        </p:spPr>
        <p:txBody>
          <a:bodyPr wrap="square" rtlCol="0" anchor="ctr"/>
          <a:lstStyle/>
          <a:p>
            <a:pPr algn="ctr" indent="0" marL="0">
              <a:buNone/>
            </a:pPr>
            <a:r>
              <a:rPr lang="en-US" sz="4000" b="1" dirty="0">
                <a:solidFill>
                  <a:srgbClr val="FFFFFF"/>
                </a:solidFill>
                <a:latin typeface="Century Schoolbook" pitchFamily="34" charset="0"/>
                <a:ea typeface="Century Schoolbook" pitchFamily="34" charset="-122"/>
                <a:cs typeface="Century Schoolbook" pitchFamily="34" charset="-120"/>
              </a:rPr>
              <a:t>We're not digitizing inspections.</a:t>
            </a:r>
            <a:endParaRPr lang="en-US" sz="4000" dirty="0"/>
          </a:p>
        </p:txBody>
      </p:sp>
      <p:sp>
        <p:nvSpPr>
          <p:cNvPr id="3" name="Text 1"/>
          <p:cNvSpPr/>
          <p:nvPr/>
        </p:nvSpPr>
        <p:spPr>
          <a:xfrm>
            <a:off x="914400" y="3017520"/>
            <a:ext cx="10332720" cy="640080"/>
          </a:xfrm>
          <a:prstGeom prst="rect">
            <a:avLst/>
          </a:prstGeom>
          <a:noFill/>
          <a:ln/>
        </p:spPr>
        <p:txBody>
          <a:bodyPr wrap="square" rtlCol="0" anchor="ctr"/>
          <a:lstStyle/>
          <a:p>
            <a:pPr algn="ctr" indent="0" marL="0">
              <a:buNone/>
            </a:pPr>
            <a:r>
              <a:rPr lang="en-US" sz="3000" dirty="0">
                <a:solidFill>
                  <a:srgbClr val="DCEEEC"/>
                </a:solidFill>
                <a:latin typeface="Century Schoolbook" pitchFamily="34" charset="0"/>
                <a:ea typeface="Century Schoolbook" pitchFamily="34" charset="-122"/>
                <a:cs typeface="Century Schoolbook" pitchFamily="34" charset="-120"/>
              </a:rPr>
              <a:t>We're turning food safety into a </a:t>
            </a:r>
            <a:pPr algn="ctr" indent="0" marL="0">
              <a:buNone/>
            </a:pPr>
            <a:r>
              <a:rPr lang="en-US" sz="3000" b="1" dirty="0">
                <a:solidFill>
                  <a:srgbClr val="E8A33D"/>
                </a:solidFill>
                <a:latin typeface="Century Schoolbook" pitchFamily="34" charset="0"/>
                <a:ea typeface="Century Schoolbook" pitchFamily="34" charset="-122"/>
                <a:cs typeface="Century Schoolbook" pitchFamily="34" charset="-120"/>
              </a:rPr>
              <a:t>transparent, data-driven system</a:t>
            </a:r>
            <a:endParaRPr lang="en-US" sz="3000" dirty="0"/>
          </a:p>
        </p:txBody>
      </p:sp>
      <p:sp>
        <p:nvSpPr>
          <p:cNvPr id="4" name="Text 2"/>
          <p:cNvSpPr/>
          <p:nvPr/>
        </p:nvSpPr>
        <p:spPr>
          <a:xfrm>
            <a:off x="914400" y="3611880"/>
            <a:ext cx="10332720" cy="640080"/>
          </a:xfrm>
          <a:prstGeom prst="rect">
            <a:avLst/>
          </a:prstGeom>
          <a:noFill/>
          <a:ln/>
        </p:spPr>
        <p:txBody>
          <a:bodyPr wrap="square" rtlCol="0" anchor="ctr"/>
          <a:lstStyle/>
          <a:p>
            <a:pPr algn="ctr" indent="0" marL="0">
              <a:buNone/>
            </a:pPr>
            <a:r>
              <a:rPr lang="en-US" sz="3000" dirty="0">
                <a:solidFill>
                  <a:srgbClr val="DCEEEC"/>
                </a:solidFill>
                <a:latin typeface="Century Schoolbook" pitchFamily="34" charset="0"/>
                <a:ea typeface="Century Schoolbook" pitchFamily="34" charset="-122"/>
                <a:cs typeface="Century Schoolbook" pitchFamily="34" charset="-120"/>
              </a:rPr>
              <a:t>that every side actually benefits from.</a:t>
            </a:r>
            <a:endParaRPr lang="en-US" sz="3000" dirty="0"/>
          </a:p>
        </p:txBody>
      </p:sp>
      <p:sp>
        <p:nvSpPr>
          <p:cNvPr id="5" name="Shape 3"/>
          <p:cNvSpPr/>
          <p:nvPr/>
        </p:nvSpPr>
        <p:spPr>
          <a:xfrm>
            <a:off x="4727448" y="4754880"/>
            <a:ext cx="2743200" cy="685800"/>
          </a:xfrm>
          <a:prstGeom prst="roundRect">
            <a:avLst>
              <a:gd name="adj" fmla="val 49333"/>
            </a:avLst>
          </a:prstGeom>
          <a:solidFill>
            <a:srgbClr val="E8A33D"/>
          </a:solidFill>
          <a:ln/>
        </p:spPr>
      </p:sp>
      <p:sp>
        <p:nvSpPr>
          <p:cNvPr id="6" name="Text 4"/>
          <p:cNvSpPr/>
          <p:nvPr/>
        </p:nvSpPr>
        <p:spPr>
          <a:xfrm>
            <a:off x="4727448" y="4754880"/>
            <a:ext cx="2743200" cy="685800"/>
          </a:xfrm>
          <a:prstGeom prst="rect">
            <a:avLst/>
          </a:prstGeom>
          <a:noFill/>
          <a:ln/>
        </p:spPr>
        <p:txBody>
          <a:bodyPr wrap="square" rtlCol="0" anchor="ctr"/>
          <a:lstStyle/>
          <a:p>
            <a:pPr algn="ctr" indent="0" marL="0">
              <a:buNone/>
            </a:pPr>
            <a:r>
              <a:rPr lang="en-US" sz="2200" b="1" dirty="0">
                <a:solidFill>
                  <a:srgbClr val="14323B"/>
                </a:solidFill>
                <a:latin typeface="Century Schoolbook" pitchFamily="34" charset="0"/>
                <a:ea typeface="Century Schoolbook" pitchFamily="34" charset="-122"/>
                <a:cs typeface="Century Schoolbook" pitchFamily="34" charset="-120"/>
              </a:rPr>
              <a:t>أمان  ·  Aman</a:t>
            </a:r>
            <a:endParaRPr lang="en-US" sz="2200" dirty="0"/>
          </a:p>
        </p:txBody>
      </p:sp>
      <p:sp>
        <p:nvSpPr>
          <p:cNvPr id="7" name="Text 5"/>
          <p:cNvSpPr/>
          <p:nvPr/>
        </p:nvSpPr>
        <p:spPr>
          <a:xfrm>
            <a:off x="914400" y="5623560"/>
            <a:ext cx="10332720" cy="457200"/>
          </a:xfrm>
          <a:prstGeom prst="rect">
            <a:avLst/>
          </a:prstGeom>
          <a:noFill/>
          <a:ln/>
        </p:spPr>
        <p:txBody>
          <a:bodyPr wrap="square" rtlCol="0" anchor="ctr"/>
          <a:lstStyle/>
          <a:p>
            <a:pPr algn="ctr" indent="0" marL="0">
              <a:buNone/>
            </a:pPr>
            <a:r>
              <a:rPr lang="en-US" sz="1600" i="1" dirty="0">
                <a:solidFill>
                  <a:srgbClr val="AFCBC8"/>
                </a:solidFill>
                <a:latin typeface="Calibri" pitchFamily="34" charset="0"/>
                <a:ea typeface="Calibri" pitchFamily="34" charset="-122"/>
                <a:cs typeface="Calibri" pitchFamily="34" charset="-120"/>
              </a:rPr>
              <a:t>From inspection  →  to trust.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2026-09-17T09:33:49Z</dcterms:created>
  <dcterms:modified xsi:type="dcterms:W3CDTF">2026-09-17T09:33:49Z</dcterms:modified>
</cp:coreProperties>
</file>